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2" d="100"/>
          <a:sy n="142" d="100"/>
        </p:scale>
        <p:origin x="978" y="3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645920"/>
            <a:ext cx="10058400" cy="1097280"/>
          </a:xfrm>
          <a:prstGeom prst="rect">
            <a:avLst/>
          </a:prstGeom>
          <a:noFill/>
        </p:spPr>
        <p:txBody>
          <a:bodyPr wrap="square">
            <a:spAutoFit/>
          </a:bodyPr>
          <a:lstStyle/>
          <a:p>
            <a:pPr>
              <a:defRPr sz="4400" b="1">
                <a:solidFill>
                  <a:srgbClr val="FFFFFF"/>
                </a:solidFill>
                <a:latin typeface="Meiryo"/>
              </a:defRPr>
            </a:pPr>
            <a:r>
              <a:t>YK特化WMS</a:t>
            </a:r>
          </a:p>
        </p:txBody>
      </p:sp>
      <p:sp>
        <p:nvSpPr>
          <p:cNvPr id="4" name="TextBox 3"/>
          <p:cNvSpPr txBox="1"/>
          <p:nvPr/>
        </p:nvSpPr>
        <p:spPr>
          <a:xfrm>
            <a:off x="1097280" y="2743200"/>
            <a:ext cx="10058400" cy="914400"/>
          </a:xfrm>
          <a:prstGeom prst="rect">
            <a:avLst/>
          </a:prstGeom>
          <a:noFill/>
        </p:spPr>
        <p:txBody>
          <a:bodyPr wrap="square">
            <a:spAutoFit/>
          </a:bodyPr>
          <a:lstStyle/>
          <a:p>
            <a:pPr>
              <a:defRPr sz="2200" b="1">
                <a:solidFill>
                  <a:srgbClr val="0EA5E9"/>
                </a:solidFill>
                <a:latin typeface="Meiryo"/>
              </a:defRPr>
            </a:pPr>
            <a:r>
              <a:t>次世代型 倉庫管理システム（WMS） システム概要 ＆ 機能詳細プレゼンテーション</a:t>
            </a:r>
          </a:p>
        </p:txBody>
      </p:sp>
      <p:sp>
        <p:nvSpPr>
          <p:cNvPr id="5" name="Rounded Rectangle 4"/>
          <p:cNvSpPr/>
          <p:nvPr/>
        </p:nvSpPr>
        <p:spPr>
          <a:xfrm>
            <a:off x="1097280" y="3931920"/>
            <a:ext cx="2377440" cy="54864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a:defRPr>
            </a:pPr>
            <a:r>
              <a:t>✔ バラ箱（残数）管理</a:t>
            </a:r>
          </a:p>
        </p:txBody>
      </p:sp>
      <p:sp>
        <p:nvSpPr>
          <p:cNvPr id="6" name="Rounded Rectangle 5"/>
          <p:cNvSpPr/>
          <p:nvPr/>
        </p:nvSpPr>
        <p:spPr>
          <a:xfrm>
            <a:off x="3657600" y="3931920"/>
            <a:ext cx="2377440" cy="54864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a:defRPr>
            </a:pPr>
            <a:r>
              <a:t>✔ 自動倉庫選定＆自動引当</a:t>
            </a:r>
          </a:p>
        </p:txBody>
      </p:sp>
      <p:sp>
        <p:nvSpPr>
          <p:cNvPr id="7" name="Rounded Rectangle 6"/>
          <p:cNvSpPr/>
          <p:nvPr/>
        </p:nvSpPr>
        <p:spPr>
          <a:xfrm>
            <a:off x="6217920" y="3931920"/>
            <a:ext cx="2377440" cy="54864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a:defRPr>
            </a:pPr>
            <a:r>
              <a:t>✔ 高度運賃最適化エンジン</a:t>
            </a:r>
          </a:p>
        </p:txBody>
      </p:sp>
      <p:sp>
        <p:nvSpPr>
          <p:cNvPr id="8" name="Rounded Rectangle 7"/>
          <p:cNvSpPr/>
          <p:nvPr/>
        </p:nvSpPr>
        <p:spPr>
          <a:xfrm>
            <a:off x="8778239" y="3931920"/>
            <a:ext cx="2377440" cy="54864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a:defRPr>
            </a:pPr>
            <a:r>
              <a:t>✔ ワンストップ配送管理</a:t>
            </a:r>
          </a:p>
        </p:txBody>
      </p:sp>
      <p:sp>
        <p:nvSpPr>
          <p:cNvPr id="9" name="TextBox 8"/>
          <p:cNvSpPr txBox="1"/>
          <p:nvPr/>
        </p:nvSpPr>
        <p:spPr>
          <a:xfrm>
            <a:off x="1097280" y="5669280"/>
            <a:ext cx="9144000" cy="457200"/>
          </a:xfrm>
          <a:prstGeom prst="rect">
            <a:avLst/>
          </a:prstGeom>
          <a:noFill/>
        </p:spPr>
        <p:txBody>
          <a:bodyPr wrap="none">
            <a:spAutoFit/>
          </a:bodyPr>
          <a:lstStyle/>
          <a:p>
            <a:pPr>
              <a:defRPr sz="1200">
                <a:solidFill>
                  <a:srgbClr val="64748B"/>
                </a:solidFill>
                <a:latin typeface="Meiryo"/>
              </a:defRPr>
            </a:pPr>
            <a:r>
              <a:t>システム開発部 | 概要仕様および機能カタログ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SYSTEM CONCEPT &amp; FEATURES</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WMSとしての強みと4大コア特徴</a:t>
            </a:r>
          </a:p>
        </p:txBody>
      </p:sp>
      <p:sp>
        <p:nvSpPr>
          <p:cNvPr id="5" name="Rounded Rectangle 4"/>
          <p:cNvSpPr/>
          <p:nvPr/>
        </p:nvSpPr>
        <p:spPr>
          <a:xfrm>
            <a:off x="731520" y="137160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5840" y="1645920"/>
            <a:ext cx="640080" cy="6400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01</a:t>
            </a:r>
          </a:p>
        </p:txBody>
      </p:sp>
      <p:sp>
        <p:nvSpPr>
          <p:cNvPr id="7" name="TextBox 6"/>
          <p:cNvSpPr txBox="1"/>
          <p:nvPr/>
        </p:nvSpPr>
        <p:spPr>
          <a:xfrm>
            <a:off x="1737360" y="1600200"/>
            <a:ext cx="3931920" cy="457200"/>
          </a:xfrm>
          <a:prstGeom prst="rect">
            <a:avLst/>
          </a:prstGeom>
          <a:noFill/>
        </p:spPr>
        <p:txBody>
          <a:bodyPr wrap="square">
            <a:spAutoFit/>
          </a:bodyPr>
          <a:lstStyle/>
          <a:p>
            <a:pPr>
              <a:defRPr sz="1600" b="1">
                <a:solidFill>
                  <a:srgbClr val="1E293B"/>
                </a:solidFill>
                <a:latin typeface="Meiryo"/>
              </a:defRPr>
            </a:pPr>
            <a:r>
              <a:t>バラ箱（残数）＆ FIFO管理</a:t>
            </a:r>
          </a:p>
        </p:txBody>
      </p:sp>
      <p:sp>
        <p:nvSpPr>
          <p:cNvPr id="8" name="TextBox 7"/>
          <p:cNvSpPr txBox="1"/>
          <p:nvPr/>
        </p:nvSpPr>
        <p:spPr>
          <a:xfrm>
            <a:off x="1005840" y="2377440"/>
            <a:ext cx="4572000" cy="1005840"/>
          </a:xfrm>
          <a:prstGeom prst="rect">
            <a:avLst/>
          </a:prstGeom>
          <a:noFill/>
        </p:spPr>
        <p:txBody>
          <a:bodyPr wrap="square">
            <a:spAutoFit/>
          </a:bodyPr>
          <a:lstStyle/>
          <a:p>
            <a:pPr>
              <a:defRPr sz="1200">
                <a:solidFill>
                  <a:srgbClr val="64748B"/>
                </a:solidFill>
                <a:latin typeface="Meiryo"/>
              </a:defRPr>
            </a:pPr>
            <a:r>
              <a:t>未開封ケースだけでなく、開封後のバラ箱の残存部数をリアルタイム追跡。FIFO（先入先出）× バラ箱優先引当により、現場の端数在庫を無駄なく回転させます。</a:t>
            </a:r>
          </a:p>
        </p:txBody>
      </p:sp>
      <p:sp>
        <p:nvSpPr>
          <p:cNvPr id="9" name="Rounded Rectangle 8"/>
          <p:cNvSpPr/>
          <p:nvPr/>
        </p:nvSpPr>
        <p:spPr>
          <a:xfrm>
            <a:off x="6126480" y="137160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00800" y="1645920"/>
            <a:ext cx="640080" cy="64008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02</a:t>
            </a:r>
          </a:p>
        </p:txBody>
      </p:sp>
      <p:sp>
        <p:nvSpPr>
          <p:cNvPr id="11" name="TextBox 10"/>
          <p:cNvSpPr txBox="1"/>
          <p:nvPr/>
        </p:nvSpPr>
        <p:spPr>
          <a:xfrm>
            <a:off x="7132320" y="1600200"/>
            <a:ext cx="3931920" cy="457200"/>
          </a:xfrm>
          <a:prstGeom prst="rect">
            <a:avLst/>
          </a:prstGeom>
          <a:noFill/>
        </p:spPr>
        <p:txBody>
          <a:bodyPr wrap="square">
            <a:spAutoFit/>
          </a:bodyPr>
          <a:lstStyle/>
          <a:p>
            <a:pPr>
              <a:defRPr sz="1600" b="1">
                <a:solidFill>
                  <a:srgbClr val="1E293B"/>
                </a:solidFill>
                <a:latin typeface="Meiryo"/>
              </a:defRPr>
            </a:pPr>
            <a:r>
              <a:t>最安倉庫の自動選定・出荷引当</a:t>
            </a:r>
          </a:p>
        </p:txBody>
      </p:sp>
      <p:sp>
        <p:nvSpPr>
          <p:cNvPr id="12" name="TextBox 11"/>
          <p:cNvSpPr txBox="1"/>
          <p:nvPr/>
        </p:nvSpPr>
        <p:spPr>
          <a:xfrm>
            <a:off x="6400800" y="2377440"/>
            <a:ext cx="4572000" cy="1005840"/>
          </a:xfrm>
          <a:prstGeom prst="rect">
            <a:avLst/>
          </a:prstGeom>
          <a:noFill/>
        </p:spPr>
        <p:txBody>
          <a:bodyPr wrap="square">
            <a:spAutoFit/>
          </a:bodyPr>
          <a:lstStyle/>
          <a:p>
            <a:pPr>
              <a:defRPr sz="1200">
                <a:solidFill>
                  <a:srgbClr val="64748B"/>
                </a:solidFill>
                <a:latin typeface="Meiryo"/>
              </a:defRPr>
            </a:pPr>
            <a:r>
              <a:t>出荷指示取り込み時に、各倉庫の在庫状況と配送運賃を瞬時に解析。最安で出荷可能な倉庫を自動割り振ることで物流コストを自動最適化します。</a:t>
            </a:r>
          </a:p>
        </p:txBody>
      </p:sp>
      <p:sp>
        <p:nvSpPr>
          <p:cNvPr id="13" name="Rounded Rectangle 12"/>
          <p:cNvSpPr/>
          <p:nvPr/>
        </p:nvSpPr>
        <p:spPr>
          <a:xfrm>
            <a:off x="731520" y="3840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5840" y="4114800"/>
            <a:ext cx="640080" cy="64008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03</a:t>
            </a:r>
          </a:p>
        </p:txBody>
      </p:sp>
      <p:sp>
        <p:nvSpPr>
          <p:cNvPr id="15" name="TextBox 14"/>
          <p:cNvSpPr txBox="1"/>
          <p:nvPr/>
        </p:nvSpPr>
        <p:spPr>
          <a:xfrm>
            <a:off x="1737360" y="4069080"/>
            <a:ext cx="3931920" cy="457200"/>
          </a:xfrm>
          <a:prstGeom prst="rect">
            <a:avLst/>
          </a:prstGeom>
          <a:noFill/>
        </p:spPr>
        <p:txBody>
          <a:bodyPr wrap="square">
            <a:spAutoFit/>
          </a:bodyPr>
          <a:lstStyle/>
          <a:p>
            <a:pPr>
              <a:defRPr sz="1600" b="1">
                <a:solidFill>
                  <a:srgbClr val="1E293B"/>
                </a:solidFill>
                <a:latin typeface="Meiryo"/>
              </a:defRPr>
            </a:pPr>
            <a:r>
              <a:t>高度な運賃比較・シミュレーション</a:t>
            </a:r>
          </a:p>
        </p:txBody>
      </p:sp>
      <p:sp>
        <p:nvSpPr>
          <p:cNvPr id="16" name="TextBox 15"/>
          <p:cNvSpPr txBox="1"/>
          <p:nvPr/>
        </p:nvSpPr>
        <p:spPr>
          <a:xfrm>
            <a:off x="1005840" y="4846320"/>
            <a:ext cx="4572000" cy="1005840"/>
          </a:xfrm>
          <a:prstGeom prst="rect">
            <a:avLst/>
          </a:prstGeom>
          <a:noFill/>
        </p:spPr>
        <p:txBody>
          <a:bodyPr wrap="square">
            <a:spAutoFit/>
          </a:bodyPr>
          <a:lstStyle/>
          <a:p>
            <a:pPr>
              <a:defRPr sz="1200">
                <a:solidFill>
                  <a:srgbClr val="64748B"/>
                </a:solidFill>
                <a:latin typeface="Meiryo"/>
              </a:defRPr>
            </a:pPr>
            <a:r>
              <a:t>複数運送会社の運賃表・距離・重量・エリア・倉庫割増率・個別運賃を網羅。画面上でキャリア別の最安料金を可視化し比較・調整できます。</a:t>
            </a:r>
          </a:p>
        </p:txBody>
      </p:sp>
      <p:sp>
        <p:nvSpPr>
          <p:cNvPr id="17" name="Rounded Rectangle 16"/>
          <p:cNvSpPr/>
          <p:nvPr/>
        </p:nvSpPr>
        <p:spPr>
          <a:xfrm>
            <a:off x="6126480" y="3840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00800" y="4114800"/>
            <a:ext cx="640080" cy="6400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04</a:t>
            </a:r>
          </a:p>
        </p:txBody>
      </p:sp>
      <p:sp>
        <p:nvSpPr>
          <p:cNvPr id="19" name="TextBox 18"/>
          <p:cNvSpPr txBox="1"/>
          <p:nvPr/>
        </p:nvSpPr>
        <p:spPr>
          <a:xfrm>
            <a:off x="7132320" y="4069080"/>
            <a:ext cx="3931920" cy="457200"/>
          </a:xfrm>
          <a:prstGeom prst="rect">
            <a:avLst/>
          </a:prstGeom>
          <a:noFill/>
        </p:spPr>
        <p:txBody>
          <a:bodyPr wrap="square">
            <a:spAutoFit/>
          </a:bodyPr>
          <a:lstStyle/>
          <a:p>
            <a:pPr>
              <a:defRPr sz="1600" b="1">
                <a:solidFill>
                  <a:srgbClr val="1E293B"/>
                </a:solidFill>
                <a:latin typeface="Meiryo"/>
              </a:defRPr>
            </a:pPr>
            <a:r>
              <a:t>ワンストップ現場オペレーション</a:t>
            </a:r>
          </a:p>
        </p:txBody>
      </p:sp>
      <p:sp>
        <p:nvSpPr>
          <p:cNvPr id="20" name="TextBox 19"/>
          <p:cNvSpPr txBox="1"/>
          <p:nvPr/>
        </p:nvSpPr>
        <p:spPr>
          <a:xfrm>
            <a:off x="6400800" y="4846320"/>
            <a:ext cx="4572000" cy="1005840"/>
          </a:xfrm>
          <a:prstGeom prst="rect">
            <a:avLst/>
          </a:prstGeom>
          <a:noFill/>
        </p:spPr>
        <p:txBody>
          <a:bodyPr wrap="square">
            <a:spAutoFit/>
          </a:bodyPr>
          <a:lstStyle/>
          <a:p>
            <a:pPr>
              <a:defRPr sz="1200">
                <a:solidFill>
                  <a:srgbClr val="64748B"/>
                </a:solidFill>
                <a:latin typeface="Meiryo"/>
              </a:defRPr>
            </a:pPr>
            <a:r>
              <a:t>Excel指示読込から倉庫確定、運賃シミュレーション、ヤマトB2/佐川e飛伝などの送り状CSV出力・ラベル発行まで一気通貫で完結します。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WORKFLOW &amp; ARCHITECTURE</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全体業務フローとシステムモジュール構造</a:t>
            </a:r>
          </a:p>
        </p:txBody>
      </p:sp>
      <p:sp>
        <p:nvSpPr>
          <p:cNvPr id="5" name="Rounded Rectangle 4"/>
          <p:cNvSpPr/>
          <p:nvPr/>
        </p:nvSpPr>
        <p:spPr>
          <a:xfrm>
            <a:off x="548640" y="1645920"/>
            <a:ext cx="1737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173736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1</a:t>
            </a:r>
          </a:p>
        </p:txBody>
      </p:sp>
      <p:sp>
        <p:nvSpPr>
          <p:cNvPr id="7" name="TextBox 6"/>
          <p:cNvSpPr txBox="1"/>
          <p:nvPr/>
        </p:nvSpPr>
        <p:spPr>
          <a:xfrm>
            <a:off x="640080" y="2377440"/>
            <a:ext cx="1554480" cy="731520"/>
          </a:xfrm>
          <a:prstGeom prst="rect">
            <a:avLst/>
          </a:prstGeom>
          <a:noFill/>
        </p:spPr>
        <p:txBody>
          <a:bodyPr wrap="square">
            <a:spAutoFit/>
          </a:bodyPr>
          <a:lstStyle/>
          <a:p>
            <a:pPr algn="ctr">
              <a:defRPr sz="1400" b="1">
                <a:solidFill>
                  <a:srgbClr val="1E293B"/>
                </a:solidFill>
                <a:latin typeface="Meiryo"/>
              </a:defRPr>
            </a:pPr>
            <a:r>
              <a:t>マスタ管理</a:t>
            </a:r>
          </a:p>
        </p:txBody>
      </p:sp>
      <p:sp>
        <p:nvSpPr>
          <p:cNvPr id="8" name="TextBox 7"/>
          <p:cNvSpPr txBox="1"/>
          <p:nvPr/>
        </p:nvSpPr>
        <p:spPr>
          <a:xfrm>
            <a:off x="640080" y="3291840"/>
            <a:ext cx="1554480" cy="2194560"/>
          </a:xfrm>
          <a:prstGeom prst="rect">
            <a:avLst/>
          </a:prstGeom>
          <a:noFill/>
        </p:spPr>
        <p:txBody>
          <a:bodyPr wrap="square">
            <a:spAutoFit/>
          </a:bodyPr>
          <a:lstStyle/>
          <a:p>
            <a:pPr>
              <a:defRPr sz="1100">
                <a:solidFill>
                  <a:srgbClr val="64748B"/>
                </a:solidFill>
                <a:latin typeface="Meiryo"/>
              </a:defRPr>
            </a:pPr>
            <a:r>
              <a:rPr dirty="0" err="1"/>
              <a:t>荷主・商品・倉庫・運送会社・運賃表の設定</a:t>
            </a:r>
            <a:endParaRPr dirty="0"/>
          </a:p>
        </p:txBody>
      </p:sp>
      <p:sp>
        <p:nvSpPr>
          <p:cNvPr id="9" name="Rounded Rectangle 8"/>
          <p:cNvSpPr/>
          <p:nvPr/>
        </p:nvSpPr>
        <p:spPr>
          <a:xfrm>
            <a:off x="2423160" y="1645920"/>
            <a:ext cx="1737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423160" y="1645920"/>
            <a:ext cx="1737360"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2</a:t>
            </a:r>
          </a:p>
        </p:txBody>
      </p:sp>
      <p:sp>
        <p:nvSpPr>
          <p:cNvPr id="11" name="TextBox 10"/>
          <p:cNvSpPr txBox="1"/>
          <p:nvPr/>
        </p:nvSpPr>
        <p:spPr>
          <a:xfrm>
            <a:off x="2514600" y="2377440"/>
            <a:ext cx="1554480" cy="731520"/>
          </a:xfrm>
          <a:prstGeom prst="rect">
            <a:avLst/>
          </a:prstGeom>
          <a:noFill/>
        </p:spPr>
        <p:txBody>
          <a:bodyPr wrap="square">
            <a:spAutoFit/>
          </a:bodyPr>
          <a:lstStyle/>
          <a:p>
            <a:pPr algn="ctr">
              <a:defRPr sz="1400" b="1">
                <a:solidFill>
                  <a:srgbClr val="1E293B"/>
                </a:solidFill>
                <a:latin typeface="Meiryo"/>
              </a:defRPr>
            </a:pPr>
            <a:r>
              <a:t>入庫処理</a:t>
            </a:r>
          </a:p>
        </p:txBody>
      </p:sp>
      <p:sp>
        <p:nvSpPr>
          <p:cNvPr id="12" name="TextBox 11"/>
          <p:cNvSpPr txBox="1"/>
          <p:nvPr/>
        </p:nvSpPr>
        <p:spPr>
          <a:xfrm>
            <a:off x="2514600" y="3291840"/>
            <a:ext cx="1554480" cy="2194560"/>
          </a:xfrm>
          <a:prstGeom prst="rect">
            <a:avLst/>
          </a:prstGeom>
          <a:noFill/>
        </p:spPr>
        <p:txBody>
          <a:bodyPr wrap="square">
            <a:spAutoFit/>
          </a:bodyPr>
          <a:lstStyle/>
          <a:p>
            <a:pPr>
              <a:defRPr sz="1100">
                <a:solidFill>
                  <a:srgbClr val="64748B"/>
                </a:solidFill>
                <a:latin typeface="Meiryo"/>
              </a:defRPr>
            </a:pPr>
            <a:r>
              <a:t>入庫予定登録 ➔ 確定 ➔ ケース在庫自動生成</a:t>
            </a:r>
          </a:p>
        </p:txBody>
      </p:sp>
      <p:sp>
        <p:nvSpPr>
          <p:cNvPr id="13" name="Rounded Rectangle 12"/>
          <p:cNvSpPr/>
          <p:nvPr/>
        </p:nvSpPr>
        <p:spPr>
          <a:xfrm>
            <a:off x="4297679" y="1645920"/>
            <a:ext cx="1737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97679" y="1645920"/>
            <a:ext cx="173736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3</a:t>
            </a:r>
          </a:p>
        </p:txBody>
      </p:sp>
      <p:sp>
        <p:nvSpPr>
          <p:cNvPr id="15" name="TextBox 14"/>
          <p:cNvSpPr txBox="1"/>
          <p:nvPr/>
        </p:nvSpPr>
        <p:spPr>
          <a:xfrm>
            <a:off x="4389119" y="2377440"/>
            <a:ext cx="1554480" cy="731520"/>
          </a:xfrm>
          <a:prstGeom prst="rect">
            <a:avLst/>
          </a:prstGeom>
          <a:noFill/>
        </p:spPr>
        <p:txBody>
          <a:bodyPr wrap="square">
            <a:spAutoFit/>
          </a:bodyPr>
          <a:lstStyle/>
          <a:p>
            <a:pPr algn="ctr">
              <a:defRPr sz="1400" b="1">
                <a:solidFill>
                  <a:srgbClr val="1E293B"/>
                </a:solidFill>
                <a:latin typeface="Meiryo"/>
              </a:defRPr>
            </a:pPr>
            <a:r>
              <a:t>倉庫・在庫管理</a:t>
            </a:r>
          </a:p>
        </p:txBody>
      </p:sp>
      <p:sp>
        <p:nvSpPr>
          <p:cNvPr id="16" name="TextBox 15"/>
          <p:cNvSpPr txBox="1"/>
          <p:nvPr/>
        </p:nvSpPr>
        <p:spPr>
          <a:xfrm>
            <a:off x="4389119" y="3291840"/>
            <a:ext cx="1554480" cy="2194560"/>
          </a:xfrm>
          <a:prstGeom prst="rect">
            <a:avLst/>
          </a:prstGeom>
          <a:noFill/>
        </p:spPr>
        <p:txBody>
          <a:bodyPr wrap="square">
            <a:spAutoFit/>
          </a:bodyPr>
          <a:lstStyle/>
          <a:p>
            <a:pPr>
              <a:defRPr sz="1100">
                <a:solidFill>
                  <a:srgbClr val="64748B"/>
                </a:solidFill>
                <a:latin typeface="Meiryo"/>
              </a:defRPr>
            </a:pPr>
            <a:r>
              <a:t>ケース/バラ箱管理 ➔ 残数追跡 ➔ サマリー集計</a:t>
            </a:r>
          </a:p>
        </p:txBody>
      </p:sp>
      <p:sp>
        <p:nvSpPr>
          <p:cNvPr id="17" name="Rounded Rectangle 16"/>
          <p:cNvSpPr/>
          <p:nvPr/>
        </p:nvSpPr>
        <p:spPr>
          <a:xfrm>
            <a:off x="6172199" y="1645920"/>
            <a:ext cx="1737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199" y="1645920"/>
            <a:ext cx="1737360"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4</a:t>
            </a:r>
          </a:p>
        </p:txBody>
      </p:sp>
      <p:sp>
        <p:nvSpPr>
          <p:cNvPr id="19" name="TextBox 18"/>
          <p:cNvSpPr txBox="1"/>
          <p:nvPr/>
        </p:nvSpPr>
        <p:spPr>
          <a:xfrm>
            <a:off x="6263639" y="2377440"/>
            <a:ext cx="1554480" cy="731520"/>
          </a:xfrm>
          <a:prstGeom prst="rect">
            <a:avLst/>
          </a:prstGeom>
          <a:noFill/>
        </p:spPr>
        <p:txBody>
          <a:bodyPr wrap="square">
            <a:spAutoFit/>
          </a:bodyPr>
          <a:lstStyle/>
          <a:p>
            <a:pPr algn="ctr">
              <a:defRPr sz="1400" b="1">
                <a:solidFill>
                  <a:srgbClr val="1E293B"/>
                </a:solidFill>
                <a:latin typeface="Meiryo"/>
              </a:defRPr>
            </a:pPr>
            <a:r>
              <a:t>出庫指示取込</a:t>
            </a:r>
          </a:p>
        </p:txBody>
      </p:sp>
      <p:sp>
        <p:nvSpPr>
          <p:cNvPr id="20" name="TextBox 19"/>
          <p:cNvSpPr txBox="1"/>
          <p:nvPr/>
        </p:nvSpPr>
        <p:spPr>
          <a:xfrm>
            <a:off x="6263639" y="3291840"/>
            <a:ext cx="1554480" cy="2194560"/>
          </a:xfrm>
          <a:prstGeom prst="rect">
            <a:avLst/>
          </a:prstGeom>
          <a:noFill/>
        </p:spPr>
        <p:txBody>
          <a:bodyPr wrap="square">
            <a:spAutoFit/>
          </a:bodyPr>
          <a:lstStyle/>
          <a:p>
            <a:pPr>
              <a:defRPr sz="1100">
                <a:solidFill>
                  <a:srgbClr val="64748B"/>
                </a:solidFill>
                <a:latin typeface="Meiryo"/>
              </a:defRPr>
            </a:pPr>
            <a:r>
              <a:t>Excelインポート ➔ 最安倉庫選定 ➔ FIFO引当</a:t>
            </a:r>
          </a:p>
        </p:txBody>
      </p:sp>
      <p:sp>
        <p:nvSpPr>
          <p:cNvPr id="21" name="Rounded Rectangle 20"/>
          <p:cNvSpPr/>
          <p:nvPr/>
        </p:nvSpPr>
        <p:spPr>
          <a:xfrm>
            <a:off x="8046719" y="1645920"/>
            <a:ext cx="1737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46719" y="1645920"/>
            <a:ext cx="173736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5</a:t>
            </a:r>
          </a:p>
        </p:txBody>
      </p:sp>
      <p:sp>
        <p:nvSpPr>
          <p:cNvPr id="23" name="TextBox 22"/>
          <p:cNvSpPr txBox="1"/>
          <p:nvPr/>
        </p:nvSpPr>
        <p:spPr>
          <a:xfrm>
            <a:off x="8138159" y="2377440"/>
            <a:ext cx="1554480" cy="731520"/>
          </a:xfrm>
          <a:prstGeom prst="rect">
            <a:avLst/>
          </a:prstGeom>
          <a:noFill/>
        </p:spPr>
        <p:txBody>
          <a:bodyPr wrap="square">
            <a:spAutoFit/>
          </a:bodyPr>
          <a:lstStyle/>
          <a:p>
            <a:pPr algn="ctr">
              <a:defRPr sz="1400" b="1">
                <a:solidFill>
                  <a:srgbClr val="1E293B"/>
                </a:solidFill>
                <a:latin typeface="Meiryo"/>
              </a:defRPr>
            </a:pPr>
            <a:r>
              <a:t>運賃比較・調整</a:t>
            </a:r>
          </a:p>
        </p:txBody>
      </p:sp>
      <p:sp>
        <p:nvSpPr>
          <p:cNvPr id="24" name="TextBox 23"/>
          <p:cNvSpPr txBox="1"/>
          <p:nvPr/>
        </p:nvSpPr>
        <p:spPr>
          <a:xfrm>
            <a:off x="8138159" y="3291840"/>
            <a:ext cx="1554480" cy="2194560"/>
          </a:xfrm>
          <a:prstGeom prst="rect">
            <a:avLst/>
          </a:prstGeom>
          <a:noFill/>
        </p:spPr>
        <p:txBody>
          <a:bodyPr wrap="square">
            <a:spAutoFit/>
          </a:bodyPr>
          <a:lstStyle/>
          <a:p>
            <a:pPr>
              <a:defRPr sz="1100">
                <a:solidFill>
                  <a:srgbClr val="64748B"/>
                </a:solidFill>
                <a:latin typeface="Meiryo"/>
              </a:defRPr>
            </a:pPr>
            <a:r>
              <a:t>複数キャリア運賃比較 ➔ 出荷倉庫確定</a:t>
            </a:r>
          </a:p>
        </p:txBody>
      </p:sp>
      <p:sp>
        <p:nvSpPr>
          <p:cNvPr id="25" name="Rounded Rectangle 24"/>
          <p:cNvSpPr/>
          <p:nvPr/>
        </p:nvSpPr>
        <p:spPr>
          <a:xfrm>
            <a:off x="9921240" y="1645920"/>
            <a:ext cx="1737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921240" y="1645920"/>
            <a:ext cx="1737360"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Meiryo"/>
              </a:defRPr>
            </a:pPr>
            <a:r>
              <a:t>STEP 6</a:t>
            </a:r>
          </a:p>
        </p:txBody>
      </p:sp>
      <p:sp>
        <p:nvSpPr>
          <p:cNvPr id="27" name="TextBox 26"/>
          <p:cNvSpPr txBox="1"/>
          <p:nvPr/>
        </p:nvSpPr>
        <p:spPr>
          <a:xfrm>
            <a:off x="10012680" y="2377440"/>
            <a:ext cx="1554480" cy="731520"/>
          </a:xfrm>
          <a:prstGeom prst="rect">
            <a:avLst/>
          </a:prstGeom>
          <a:noFill/>
        </p:spPr>
        <p:txBody>
          <a:bodyPr wrap="square">
            <a:spAutoFit/>
          </a:bodyPr>
          <a:lstStyle/>
          <a:p>
            <a:pPr algn="ctr">
              <a:defRPr sz="1400" b="1">
                <a:solidFill>
                  <a:srgbClr val="1E293B"/>
                </a:solidFill>
                <a:latin typeface="Meiryo"/>
              </a:defRPr>
            </a:pPr>
            <a:r>
              <a:t>送り状出力</a:t>
            </a:r>
          </a:p>
        </p:txBody>
      </p:sp>
      <p:sp>
        <p:nvSpPr>
          <p:cNvPr id="28" name="TextBox 27"/>
          <p:cNvSpPr txBox="1"/>
          <p:nvPr/>
        </p:nvSpPr>
        <p:spPr>
          <a:xfrm>
            <a:off x="10012680" y="3291840"/>
            <a:ext cx="1554480" cy="2194560"/>
          </a:xfrm>
          <a:prstGeom prst="rect">
            <a:avLst/>
          </a:prstGeom>
          <a:noFill/>
        </p:spPr>
        <p:txBody>
          <a:bodyPr wrap="square">
            <a:spAutoFit/>
          </a:bodyPr>
          <a:lstStyle/>
          <a:p>
            <a:pPr>
              <a:defRPr sz="1100">
                <a:solidFill>
                  <a:srgbClr val="64748B"/>
                </a:solidFill>
                <a:latin typeface="Meiryo"/>
              </a:defRPr>
            </a:pPr>
            <a:r>
              <a:t>各社CSVデータ出力 ➔ 配送ラベル発行・出庫確定</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INVENTORY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倉庫管理：在庫一覧（明細照会・バラ箱残数管理）</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4206240"/>
          </a:xfrm>
          <a:prstGeom prst="rect">
            <a:avLst/>
          </a:prstGeom>
          <a:noFill/>
        </p:spPr>
        <p:txBody>
          <a:bodyPr wrap="square">
            <a:spAutoFit/>
          </a:bodyPr>
          <a:lstStyle/>
          <a:p>
            <a:pPr>
              <a:spcBef>
                <a:spcPts val="0"/>
              </a:spcBef>
              <a:defRPr sz="1300" b="1">
                <a:solidFill>
                  <a:srgbClr val="1E293B"/>
                </a:solidFill>
                <a:latin typeface="Meiryo"/>
              </a:defRPr>
            </a:pPr>
            <a:r>
              <a:t>■ 未開封ケース ＆ バラ箱の識別</a:t>
            </a:r>
          </a:p>
          <a:p>
            <a:pPr>
              <a:spcAft>
                <a:spcPts val="600"/>
              </a:spcAft>
              <a:defRPr sz="1100">
                <a:solidFill>
                  <a:srgbClr val="64748B"/>
                </a:solidFill>
                <a:latin typeface="Meiryo"/>
              </a:defRPr>
            </a:pPr>
            <a:r>
              <a:t>保管ケースが未開封箱か開封済のバラ箱かをリアルタイムに自動識別してバッジ表示します。</a:t>
            </a:r>
          </a:p>
          <a:p>
            <a:pPr>
              <a:spcBef>
                <a:spcPts val="800"/>
              </a:spcBef>
              <a:defRPr sz="1300" b="1">
                <a:solidFill>
                  <a:srgbClr val="1E293B"/>
                </a:solidFill>
                <a:latin typeface="Meiryo"/>
              </a:defRPr>
            </a:pPr>
            <a:r>
              <a:t>■ 残存部数の正確な管理</a:t>
            </a:r>
          </a:p>
          <a:p>
            <a:pPr>
              <a:spcAft>
                <a:spcPts val="600"/>
              </a:spcAft>
              <a:defRPr sz="1100">
                <a:solidFill>
                  <a:srgbClr val="64748B"/>
                </a:solidFill>
                <a:latin typeface="Meiryo"/>
              </a:defRPr>
            </a:pPr>
            <a:r>
              <a:t>バラ箱内の残り部数 / 入数を数値で表示し、現場の端数部数を視覚的かつ正確に把握できます。</a:t>
            </a:r>
          </a:p>
          <a:p>
            <a:pPr>
              <a:spcBef>
                <a:spcPts val="800"/>
              </a:spcBef>
              <a:defRPr sz="1300" b="1">
                <a:solidFill>
                  <a:srgbClr val="1E293B"/>
                </a:solidFill>
                <a:latin typeface="Meiryo"/>
              </a:defRPr>
            </a:pPr>
            <a:r>
              <a:t>■ 高精度な絞り込み検索</a:t>
            </a:r>
          </a:p>
          <a:p>
            <a:pPr>
              <a:spcAft>
                <a:spcPts val="600"/>
              </a:spcAft>
              <a:defRPr sz="1100">
                <a:solidFill>
                  <a:srgbClr val="64748B"/>
                </a:solidFill>
                <a:latin typeface="Meiryo"/>
              </a:defRPr>
            </a:pPr>
            <a:r>
              <a:t>荷主・倉庫・商品コード・ステータス（1:在庫, 11:引当, 21:出庫）の各種複合条件で即座に絞り込み可能です。</a:t>
            </a:r>
          </a:p>
        </p:txBody>
      </p:sp>
      <p:sp>
        <p:nvSpPr>
          <p:cNvPr id="8" name="Rectangle 7"/>
          <p:cNvSpPr/>
          <p:nvPr/>
        </p:nvSpPr>
        <p:spPr>
          <a:xfrm>
            <a:off x="5074920" y="2201913"/>
            <a:ext cx="6400800" cy="336857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nventory_list.png"/>
          <p:cNvPicPr>
            <a:picLocks noChangeAspect="1"/>
          </p:cNvPicPr>
          <p:nvPr/>
        </p:nvPicPr>
        <p:blipFill>
          <a:blip r:embed="rId2"/>
          <a:stretch>
            <a:fillRect/>
          </a:stretch>
        </p:blipFill>
        <p:spPr>
          <a:xfrm>
            <a:off x="5029200" y="2156193"/>
            <a:ext cx="6400800" cy="3368573"/>
          </a:xfrm>
          <a:prstGeom prst="rect">
            <a:avLst/>
          </a:prstGeom>
        </p:spPr>
      </p:pic>
      <p:sp>
        <p:nvSpPr>
          <p:cNvPr id="10" name="Rectangle 9"/>
          <p:cNvSpPr/>
          <p:nvPr/>
        </p:nvSpPr>
        <p:spPr>
          <a:xfrm>
            <a:off x="5029200" y="2156193"/>
            <a:ext cx="6400800" cy="3368573"/>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INVENTORY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倉庫管理：在庫数サマリー（リアルタイム集計照会）</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4206240"/>
          </a:xfrm>
          <a:prstGeom prst="rect">
            <a:avLst/>
          </a:prstGeom>
          <a:noFill/>
        </p:spPr>
        <p:txBody>
          <a:bodyPr wrap="square">
            <a:spAutoFit/>
          </a:bodyPr>
          <a:lstStyle/>
          <a:p>
            <a:pPr>
              <a:spcBef>
                <a:spcPts val="0"/>
              </a:spcBef>
              <a:defRPr sz="1300" b="1">
                <a:solidFill>
                  <a:srgbClr val="1E293B"/>
                </a:solidFill>
                <a:latin typeface="Meiryo"/>
              </a:defRPr>
            </a:pPr>
            <a:r>
              <a:t>■ 倉庫×荷主×商品別の自動集計</a:t>
            </a:r>
          </a:p>
          <a:p>
            <a:pPr>
              <a:spcAft>
                <a:spcPts val="600"/>
              </a:spcAft>
              <a:defRPr sz="1100">
                <a:solidFill>
                  <a:srgbClr val="64748B"/>
                </a:solidFill>
                <a:latin typeface="Meiryo"/>
              </a:defRPr>
            </a:pPr>
            <a:r>
              <a:t>保管中（有効）な在庫データをリアルタイムにグループ集計し、拠点ごとの総ケース数と部数を一覧化します。</a:t>
            </a:r>
          </a:p>
          <a:p>
            <a:pPr>
              <a:spcBef>
                <a:spcPts val="800"/>
              </a:spcBef>
              <a:defRPr sz="1300" b="1">
                <a:solidFill>
                  <a:srgbClr val="1E293B"/>
                </a:solidFill>
                <a:latin typeface="Meiryo"/>
              </a:defRPr>
            </a:pPr>
            <a:r>
              <a:t>■ 利用可能在庫と引当済数の可視化</a:t>
            </a:r>
          </a:p>
          <a:p>
            <a:pPr>
              <a:spcAft>
                <a:spcPts val="600"/>
              </a:spcAft>
              <a:defRPr sz="1100">
                <a:solidFill>
                  <a:srgbClr val="64748B"/>
                </a:solidFill>
                <a:latin typeface="Meiryo"/>
              </a:defRPr>
            </a:pPr>
            <a:r>
              <a:t>即時出荷可能な「利用可能在庫箱数・部数」と、出荷手配でキープされた「引当済ケース数」を区別表示します。</a:t>
            </a:r>
          </a:p>
          <a:p>
            <a:pPr>
              <a:spcBef>
                <a:spcPts val="800"/>
              </a:spcBef>
              <a:defRPr sz="1300" b="1">
                <a:solidFill>
                  <a:srgbClr val="1E293B"/>
                </a:solidFill>
                <a:latin typeface="Meiryo"/>
              </a:defRPr>
            </a:pPr>
            <a:r>
              <a:t>■ マルチ倉庫・マルチ荷主対応</a:t>
            </a:r>
          </a:p>
          <a:p>
            <a:pPr>
              <a:spcAft>
                <a:spcPts val="600"/>
              </a:spcAft>
              <a:defRPr sz="1100">
                <a:solidFill>
                  <a:srgbClr val="64748B"/>
                </a:solidFill>
                <a:latin typeface="Meiryo"/>
              </a:defRPr>
            </a:pPr>
            <a:r>
              <a:t>複数拠点・複数荷主の在庫状況を一画面でまとめて把握でき、倉庫間の在庫移動判断を支援します。</a:t>
            </a:r>
          </a:p>
        </p:txBody>
      </p:sp>
      <p:sp>
        <p:nvSpPr>
          <p:cNvPr id="8" name="Rectangle 7"/>
          <p:cNvSpPr/>
          <p:nvPr/>
        </p:nvSpPr>
        <p:spPr>
          <a:xfrm>
            <a:off x="5074920" y="2201913"/>
            <a:ext cx="6400800" cy="336857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nventory_summary.png"/>
          <p:cNvPicPr>
            <a:picLocks noChangeAspect="1"/>
          </p:cNvPicPr>
          <p:nvPr/>
        </p:nvPicPr>
        <p:blipFill>
          <a:blip r:embed="rId2"/>
          <a:stretch>
            <a:fillRect/>
          </a:stretch>
        </p:blipFill>
        <p:spPr>
          <a:xfrm>
            <a:off x="5029200" y="2156193"/>
            <a:ext cx="6400800" cy="3368573"/>
          </a:xfrm>
          <a:prstGeom prst="rect">
            <a:avLst/>
          </a:prstGeom>
        </p:spPr>
      </p:pic>
      <p:sp>
        <p:nvSpPr>
          <p:cNvPr id="10" name="Rectangle 9"/>
          <p:cNvSpPr/>
          <p:nvPr/>
        </p:nvSpPr>
        <p:spPr>
          <a:xfrm>
            <a:off x="5029200" y="2156193"/>
            <a:ext cx="6400800" cy="3368573"/>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INBOUND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入庫管理：入庫予定一覧 ＆ 入庫登録</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754880"/>
          </a:xfrm>
          <a:prstGeom prst="rect">
            <a:avLst/>
          </a:prstGeom>
          <a:noFill/>
        </p:spPr>
        <p:txBody>
          <a:bodyPr wrap="square">
            <a:spAutoFit/>
          </a:bodyPr>
          <a:lstStyle/>
          <a:p>
            <a:pPr>
              <a:spcBef>
                <a:spcPts val="0"/>
              </a:spcBef>
              <a:defRPr sz="1300" b="1">
                <a:solidFill>
                  <a:srgbClr val="1E293B"/>
                </a:solidFill>
                <a:latin typeface="Meiryo"/>
              </a:defRPr>
            </a:pPr>
            <a:r>
              <a:t>■ 入庫予定の一元管理</a:t>
            </a:r>
          </a:p>
          <a:p>
            <a:pPr>
              <a:spcAft>
                <a:spcPts val="600"/>
              </a:spcAft>
              <a:defRPr sz="1100">
                <a:solidFill>
                  <a:srgbClr val="64748B"/>
                </a:solidFill>
                <a:latin typeface="Meiryo"/>
              </a:defRPr>
            </a:pPr>
            <a:r>
              <a:t>入荷予定日時、予定ケース数、荷主・倉庫情報を一覧で把握。作業予定の平準化をサポートします。</a:t>
            </a:r>
          </a:p>
          <a:p>
            <a:pPr>
              <a:spcBef>
                <a:spcPts val="800"/>
              </a:spcBef>
              <a:defRPr sz="1300" b="1">
                <a:solidFill>
                  <a:srgbClr val="1E293B"/>
                </a:solidFill>
                <a:latin typeface="Meiryo"/>
              </a:defRPr>
            </a:pPr>
            <a:r>
              <a:t>■ スムーズな入庫確定処理</a:t>
            </a:r>
          </a:p>
          <a:p>
            <a:pPr>
              <a:spcAft>
                <a:spcPts val="600"/>
              </a:spcAft>
              <a:defRPr sz="1100">
                <a:solidFill>
                  <a:srgbClr val="64748B"/>
                </a:solidFill>
                <a:latin typeface="Meiryo"/>
              </a:defRPr>
            </a:pPr>
            <a:r>
              <a:t>現場での受入検品後、一括または個別で入庫実績を登録し即座に在庫ステータスへ反映します。</a:t>
            </a:r>
          </a:p>
          <a:p>
            <a:pPr>
              <a:spcBef>
                <a:spcPts val="800"/>
              </a:spcBef>
              <a:defRPr sz="1300" b="1">
                <a:solidFill>
                  <a:srgbClr val="1E293B"/>
                </a:solidFill>
                <a:latin typeface="Meiryo"/>
              </a:defRPr>
            </a:pPr>
            <a:r>
              <a:t>■ ケース在庫自動生成</a:t>
            </a:r>
          </a:p>
          <a:p>
            <a:pPr>
              <a:spcAft>
                <a:spcPts val="600"/>
              </a:spcAft>
              <a:defRPr sz="1100">
                <a:solidFill>
                  <a:srgbClr val="64748B"/>
                </a:solidFill>
                <a:latin typeface="Meiryo"/>
              </a:defRPr>
            </a:pPr>
            <a:r>
              <a:t>入庫確定時に指定ケース数分の在庫レコード（未開封箱 is_loose=false）を自動生成し、迅速に出荷可能化します。</a:t>
            </a:r>
          </a:p>
        </p:txBody>
      </p:sp>
      <p:sp>
        <p:nvSpPr>
          <p:cNvPr id="7" name="Rectangle 6"/>
          <p:cNvSpPr/>
          <p:nvPr/>
        </p:nvSpPr>
        <p:spPr>
          <a:xfrm>
            <a:off x="5973134" y="1325880"/>
            <a:ext cx="4604370" cy="24231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nbound_list.png"/>
          <p:cNvPicPr>
            <a:picLocks noChangeAspect="1"/>
          </p:cNvPicPr>
          <p:nvPr/>
        </p:nvPicPr>
        <p:blipFill>
          <a:blip r:embed="rId2"/>
          <a:stretch>
            <a:fillRect/>
          </a:stretch>
        </p:blipFill>
        <p:spPr>
          <a:xfrm>
            <a:off x="5927414" y="1280160"/>
            <a:ext cx="4604370" cy="2423160"/>
          </a:xfrm>
          <a:prstGeom prst="rect">
            <a:avLst/>
          </a:prstGeom>
        </p:spPr>
      </p:pic>
      <p:sp>
        <p:nvSpPr>
          <p:cNvPr id="9" name="Rectangle 8"/>
          <p:cNvSpPr/>
          <p:nvPr/>
        </p:nvSpPr>
        <p:spPr>
          <a:xfrm>
            <a:off x="5927414" y="1280160"/>
            <a:ext cx="4604370" cy="2423160"/>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86259" y="3931920"/>
            <a:ext cx="4778120" cy="25146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nbound_register.png"/>
          <p:cNvPicPr>
            <a:picLocks noChangeAspect="1"/>
          </p:cNvPicPr>
          <p:nvPr/>
        </p:nvPicPr>
        <p:blipFill>
          <a:blip r:embed="rId3"/>
          <a:stretch>
            <a:fillRect/>
          </a:stretch>
        </p:blipFill>
        <p:spPr>
          <a:xfrm>
            <a:off x="5840539" y="3886200"/>
            <a:ext cx="4778120" cy="2514600"/>
          </a:xfrm>
          <a:prstGeom prst="rect">
            <a:avLst/>
          </a:prstGeom>
        </p:spPr>
      </p:pic>
      <p:sp>
        <p:nvSpPr>
          <p:cNvPr id="12" name="Rectangle 11"/>
          <p:cNvSpPr/>
          <p:nvPr/>
        </p:nvSpPr>
        <p:spPr>
          <a:xfrm>
            <a:off x="5840539" y="3886200"/>
            <a:ext cx="4778120" cy="2514600"/>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OUTBOUND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出庫管理：出荷指示読込 ＆ 自動倉庫選定・引当</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4206240"/>
          </a:xfrm>
          <a:prstGeom prst="rect">
            <a:avLst/>
          </a:prstGeom>
          <a:noFill/>
        </p:spPr>
        <p:txBody>
          <a:bodyPr wrap="square">
            <a:spAutoFit/>
          </a:bodyPr>
          <a:lstStyle/>
          <a:p>
            <a:pPr>
              <a:spcBef>
                <a:spcPts val="0"/>
              </a:spcBef>
              <a:defRPr sz="1300" b="1">
                <a:solidFill>
                  <a:srgbClr val="1E293B"/>
                </a:solidFill>
                <a:latin typeface="Meiryo"/>
              </a:defRPr>
            </a:pPr>
            <a:r>
              <a:t>■ Excelファイルのワンクリック取込</a:t>
            </a:r>
          </a:p>
          <a:p>
            <a:pPr>
              <a:spcAft>
                <a:spcPts val="600"/>
              </a:spcAft>
              <a:defRPr sz="1100">
                <a:solidFill>
                  <a:srgbClr val="64748B"/>
                </a:solidFill>
                <a:latin typeface="Meiryo"/>
              </a:defRPr>
            </a:pPr>
            <a:r>
              <a:t>出荷先や指示部数が記載されたExcel（.xlsx）を取り込むだけで、自動で出荷指示グループを発行・処理します。</a:t>
            </a:r>
          </a:p>
          <a:p>
            <a:pPr>
              <a:spcBef>
                <a:spcPts val="800"/>
              </a:spcBef>
              <a:defRPr sz="1300" b="1">
                <a:solidFill>
                  <a:srgbClr val="1E293B"/>
                </a:solidFill>
                <a:latin typeface="Meiryo"/>
              </a:defRPr>
            </a:pPr>
            <a:r>
              <a:t>■ 最安出荷倉庫の自動選定</a:t>
            </a:r>
          </a:p>
          <a:p>
            <a:pPr>
              <a:spcAft>
                <a:spcPts val="600"/>
              </a:spcAft>
              <a:defRPr sz="1100">
                <a:solidFill>
                  <a:srgbClr val="64748B"/>
                </a:solidFill>
                <a:latin typeface="Meiryo"/>
              </a:defRPr>
            </a:pPr>
            <a:r>
              <a:t>お届け先郵便番号と指示部数・重量に基づき、最適な出荷倉庫および最安配送ルートを全自動計算して決定します。</a:t>
            </a:r>
          </a:p>
          <a:p>
            <a:pPr>
              <a:spcBef>
                <a:spcPts val="800"/>
              </a:spcBef>
              <a:defRPr sz="1300" b="1">
                <a:solidFill>
                  <a:srgbClr val="1E293B"/>
                </a:solidFill>
                <a:latin typeface="Meiryo"/>
              </a:defRPr>
            </a:pPr>
            <a:r>
              <a:t>■ FIFO × バラ優先の高度な引当ロジック</a:t>
            </a:r>
          </a:p>
          <a:p>
            <a:pPr>
              <a:spcAft>
                <a:spcPts val="600"/>
              </a:spcAft>
              <a:defRPr sz="1100">
                <a:solidFill>
                  <a:srgbClr val="64748B"/>
                </a:solidFill>
                <a:latin typeface="Meiryo"/>
              </a:defRPr>
            </a:pPr>
            <a:r>
              <a:t>最古の既存バラ箱を残さず優先引き当てし、不足分のみ未開封箱を開封する高精度な自動在庫キープを行います。</a:t>
            </a:r>
          </a:p>
        </p:txBody>
      </p:sp>
      <p:sp>
        <p:nvSpPr>
          <p:cNvPr id="8" name="Rectangle 7"/>
          <p:cNvSpPr/>
          <p:nvPr/>
        </p:nvSpPr>
        <p:spPr>
          <a:xfrm>
            <a:off x="5074920" y="2201913"/>
            <a:ext cx="6400800" cy="336857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outbound_import_instruction.png"/>
          <p:cNvPicPr>
            <a:picLocks noChangeAspect="1"/>
          </p:cNvPicPr>
          <p:nvPr/>
        </p:nvPicPr>
        <p:blipFill>
          <a:blip r:embed="rId2"/>
          <a:stretch>
            <a:fillRect/>
          </a:stretch>
        </p:blipFill>
        <p:spPr>
          <a:xfrm>
            <a:off x="5029200" y="2156193"/>
            <a:ext cx="6400800" cy="3368573"/>
          </a:xfrm>
          <a:prstGeom prst="rect">
            <a:avLst/>
          </a:prstGeom>
        </p:spPr>
      </p:pic>
      <p:sp>
        <p:nvSpPr>
          <p:cNvPr id="10" name="Rectangle 9"/>
          <p:cNvSpPr/>
          <p:nvPr/>
        </p:nvSpPr>
        <p:spPr>
          <a:xfrm>
            <a:off x="5029200" y="2156193"/>
            <a:ext cx="6400800" cy="3368573"/>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OUTBOUND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出庫管理：出庫記録一覧 ＆ リアルタイム進捗管理</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4206240"/>
          </a:xfrm>
          <a:prstGeom prst="rect">
            <a:avLst/>
          </a:prstGeom>
          <a:noFill/>
        </p:spPr>
        <p:txBody>
          <a:bodyPr wrap="square">
            <a:spAutoFit/>
          </a:bodyPr>
          <a:lstStyle/>
          <a:p>
            <a:pPr>
              <a:spcBef>
                <a:spcPts val="0"/>
              </a:spcBef>
              <a:defRPr sz="1300" b="1">
                <a:solidFill>
                  <a:srgbClr val="1E293B"/>
                </a:solidFill>
                <a:latin typeface="Meiryo"/>
              </a:defRPr>
            </a:pPr>
            <a:r>
              <a:t>■ 出荷進捗の一元ビジュアル管理</a:t>
            </a:r>
          </a:p>
          <a:p>
            <a:pPr>
              <a:spcAft>
                <a:spcPts val="600"/>
              </a:spcAft>
              <a:defRPr sz="1100">
                <a:solidFill>
                  <a:srgbClr val="64748B"/>
                </a:solidFill>
                <a:latin typeface="Meiryo"/>
              </a:defRPr>
            </a:pPr>
            <a:r>
              <a:t>確認中・予定・送状出力・請求済・該当料金無し・在庫切れの各種ステータスをバッジで一目で識別できます。</a:t>
            </a:r>
          </a:p>
          <a:p>
            <a:pPr>
              <a:spcBef>
                <a:spcPts val="800"/>
              </a:spcBef>
              <a:defRPr sz="1300" b="1">
                <a:solidFill>
                  <a:srgbClr val="1E293B"/>
                </a:solidFill>
                <a:latin typeface="Meiryo"/>
              </a:defRPr>
            </a:pPr>
            <a:r>
              <a:t>■ ワンクリック画面連携</a:t>
            </a:r>
          </a:p>
          <a:p>
            <a:pPr>
              <a:spcAft>
                <a:spcPts val="600"/>
              </a:spcAft>
              <a:defRPr sz="1100">
                <a:solidFill>
                  <a:srgbClr val="64748B"/>
                </a:solidFill>
                <a:latin typeface="Meiryo"/>
              </a:defRPr>
            </a:pPr>
            <a:r>
              <a:t>「確認中」や「該当料金無し」バッジを押下することで、対応が必要な「運賃比較」や「倉庫確定」画面へ即座に移動可能です。</a:t>
            </a:r>
          </a:p>
          <a:p>
            <a:pPr>
              <a:spcBef>
                <a:spcPts val="800"/>
              </a:spcBef>
              <a:defRPr sz="1300" b="1">
                <a:solidFill>
                  <a:srgbClr val="1E293B"/>
                </a:solidFill>
                <a:latin typeface="Meiryo"/>
              </a:defRPr>
            </a:pPr>
            <a:r>
              <a:t>■ 出荷グループ別フィルタリング</a:t>
            </a:r>
          </a:p>
          <a:p>
            <a:pPr>
              <a:spcAft>
                <a:spcPts val="600"/>
              </a:spcAft>
              <a:defRPr sz="1100">
                <a:solidFill>
                  <a:srgbClr val="64748B"/>
                </a:solidFill>
                <a:latin typeface="Meiryo"/>
              </a:defRPr>
            </a:pPr>
            <a:r>
              <a:t>バッチ単位で発番されたグループコードにより、該当ファイル全体の出荷進行状況を直感的に追跡できます。</a:t>
            </a:r>
          </a:p>
        </p:txBody>
      </p:sp>
      <p:sp>
        <p:nvSpPr>
          <p:cNvPr id="8" name="Rectangle 7"/>
          <p:cNvSpPr/>
          <p:nvPr/>
        </p:nvSpPr>
        <p:spPr>
          <a:xfrm>
            <a:off x="5074920" y="2201913"/>
            <a:ext cx="6400800" cy="336857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outbound_list.png"/>
          <p:cNvPicPr>
            <a:picLocks noChangeAspect="1"/>
          </p:cNvPicPr>
          <p:nvPr/>
        </p:nvPicPr>
        <p:blipFill>
          <a:blip r:embed="rId2"/>
          <a:stretch>
            <a:fillRect/>
          </a:stretch>
        </p:blipFill>
        <p:spPr>
          <a:xfrm>
            <a:off x="5029200" y="2156193"/>
            <a:ext cx="6400800" cy="3368573"/>
          </a:xfrm>
          <a:prstGeom prst="rect">
            <a:avLst/>
          </a:prstGeom>
        </p:spPr>
      </p:pic>
      <p:sp>
        <p:nvSpPr>
          <p:cNvPr id="10" name="Rectangle 9"/>
          <p:cNvSpPr/>
          <p:nvPr/>
        </p:nvSpPr>
        <p:spPr>
          <a:xfrm>
            <a:off x="5029200" y="2156193"/>
            <a:ext cx="6400800" cy="3368573"/>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OUTBOUND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出庫管理：出荷倉庫確定 ＆ 手動調整機能</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4206240"/>
          </a:xfrm>
          <a:prstGeom prst="rect">
            <a:avLst/>
          </a:prstGeom>
          <a:noFill/>
        </p:spPr>
        <p:txBody>
          <a:bodyPr wrap="square">
            <a:spAutoFit/>
          </a:bodyPr>
          <a:lstStyle/>
          <a:p>
            <a:pPr>
              <a:spcBef>
                <a:spcPts val="0"/>
              </a:spcBef>
              <a:defRPr sz="1300" b="1">
                <a:solidFill>
                  <a:srgbClr val="1E293B"/>
                </a:solidFill>
                <a:latin typeface="Meiryo"/>
              </a:defRPr>
            </a:pPr>
            <a:r>
              <a:t>■ 自動選定結果の確認と最適調整</a:t>
            </a:r>
          </a:p>
          <a:p>
            <a:pPr>
              <a:spcAft>
                <a:spcPts val="600"/>
              </a:spcAft>
              <a:defRPr sz="1100">
                <a:solidFill>
                  <a:srgbClr val="64748B"/>
                </a:solidFill>
                <a:latin typeface="Meiryo"/>
              </a:defRPr>
            </a:pPr>
            <a:r>
              <a:t>システムが自動判定した最安出荷倉庫と適用料金を確認し、必要に応じて配送条件を個別に調整できます。</a:t>
            </a:r>
          </a:p>
          <a:p>
            <a:pPr>
              <a:spcBef>
                <a:spcPts val="800"/>
              </a:spcBef>
              <a:defRPr sz="1300" b="1">
                <a:solidFill>
                  <a:srgbClr val="1E293B"/>
                </a:solidFill>
                <a:latin typeface="Meiryo"/>
              </a:defRPr>
            </a:pPr>
            <a:r>
              <a:t>■ 手動変更時の在庫再引当連動</a:t>
            </a:r>
          </a:p>
          <a:p>
            <a:pPr>
              <a:spcAft>
                <a:spcPts val="600"/>
              </a:spcAft>
              <a:defRPr sz="1100">
                <a:solidFill>
                  <a:srgbClr val="64748B"/>
                </a:solidFill>
                <a:latin typeface="Meiryo"/>
              </a:defRPr>
            </a:pPr>
            <a:r>
              <a:t>出荷倉庫を手動で変更した場合でも、バックエンドで即座に該当倉庫の在庫状況を再検索し、FIFO引当を再計算します。</a:t>
            </a:r>
          </a:p>
          <a:p>
            <a:pPr>
              <a:spcBef>
                <a:spcPts val="800"/>
              </a:spcBef>
              <a:defRPr sz="1300" b="1">
                <a:solidFill>
                  <a:srgbClr val="1E293B"/>
                </a:solidFill>
                <a:latin typeface="Meiryo"/>
              </a:defRPr>
            </a:pPr>
            <a:r>
              <a:t>■ 例外ステータスのクリア</a:t>
            </a:r>
          </a:p>
          <a:p>
            <a:pPr>
              <a:spcAft>
                <a:spcPts val="600"/>
              </a:spcAft>
              <a:defRPr sz="1100">
                <a:solidFill>
                  <a:srgbClr val="64748B"/>
                </a:solidFill>
                <a:latin typeface="Meiryo"/>
              </a:defRPr>
            </a:pPr>
            <a:r>
              <a:t>在庫切れや該当料金無しのレコードについて、倉庫変更や条件調整を行うことで出荷可能ステータスへ修正できます。</a:t>
            </a:r>
          </a:p>
        </p:txBody>
      </p:sp>
      <p:sp>
        <p:nvSpPr>
          <p:cNvPr id="8" name="Rectangle 7"/>
          <p:cNvSpPr/>
          <p:nvPr/>
        </p:nvSpPr>
        <p:spPr>
          <a:xfrm>
            <a:off x="5074920" y="2201913"/>
            <a:ext cx="6400800" cy="336857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outbound_confirm_warehouse.png"/>
          <p:cNvPicPr>
            <a:picLocks noChangeAspect="1"/>
          </p:cNvPicPr>
          <p:nvPr/>
        </p:nvPicPr>
        <p:blipFill>
          <a:blip r:embed="rId2"/>
          <a:stretch>
            <a:fillRect/>
          </a:stretch>
        </p:blipFill>
        <p:spPr>
          <a:xfrm>
            <a:off x="5029200" y="2156193"/>
            <a:ext cx="6400800" cy="3368573"/>
          </a:xfrm>
          <a:prstGeom prst="rect">
            <a:avLst/>
          </a:prstGeom>
        </p:spPr>
      </p:pic>
      <p:sp>
        <p:nvSpPr>
          <p:cNvPr id="10" name="Rectangle 9"/>
          <p:cNvSpPr/>
          <p:nvPr/>
        </p:nvSpPr>
        <p:spPr>
          <a:xfrm>
            <a:off x="5029200" y="2156193"/>
            <a:ext cx="6400800" cy="3368573"/>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OUTBOUND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出庫管理：高度な運賃比較 ＆ コスト最適化エンジン</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2575064"/>
          </a:xfrm>
          <a:prstGeom prst="rect">
            <a:avLst/>
          </a:prstGeom>
          <a:noFill/>
        </p:spPr>
        <p:txBody>
          <a:bodyPr wrap="square">
            <a:spAutoFit/>
          </a:bodyPr>
          <a:lstStyle/>
          <a:p>
            <a:pPr>
              <a:spcBef>
                <a:spcPts val="0"/>
              </a:spcBef>
              <a:defRPr sz="1300" b="1">
                <a:solidFill>
                  <a:srgbClr val="1E293B"/>
                </a:solidFill>
                <a:latin typeface="Meiryo"/>
              </a:defRPr>
            </a:pPr>
            <a:r>
              <a:rPr dirty="0"/>
              <a:t>■ </a:t>
            </a:r>
            <a:r>
              <a:rPr dirty="0" err="1"/>
              <a:t>複数キャリア運賃の即時シミュレーション</a:t>
            </a:r>
            <a:endParaRPr dirty="0"/>
          </a:p>
          <a:p>
            <a:pPr>
              <a:spcAft>
                <a:spcPts val="600"/>
              </a:spcAft>
              <a:defRPr sz="1100">
                <a:solidFill>
                  <a:srgbClr val="64748B"/>
                </a:solidFill>
                <a:latin typeface="Meiryo"/>
              </a:defRPr>
            </a:pPr>
            <a:r>
              <a:rPr dirty="0" err="1"/>
              <a:t>ヤマト運輸・佐川急便・日本郵便など、対応運送会社の料金表をリアルタイムで横断比較・最安値を強調表示します</a:t>
            </a:r>
            <a:r>
              <a:rPr dirty="0"/>
              <a:t>。</a:t>
            </a:r>
          </a:p>
          <a:p>
            <a:pPr>
              <a:spcBef>
                <a:spcPts val="800"/>
              </a:spcBef>
              <a:defRPr sz="1300" b="1">
                <a:solidFill>
                  <a:srgbClr val="1E293B"/>
                </a:solidFill>
                <a:latin typeface="Meiryo"/>
              </a:defRPr>
            </a:pPr>
            <a:r>
              <a:rPr dirty="0"/>
              <a:t>■ </a:t>
            </a:r>
            <a:r>
              <a:rPr dirty="0" err="1"/>
              <a:t>多様な運賃テーブルの網羅</a:t>
            </a:r>
            <a:endParaRPr dirty="0"/>
          </a:p>
          <a:p>
            <a:pPr>
              <a:spcAft>
                <a:spcPts val="600"/>
              </a:spcAft>
              <a:defRPr sz="1100">
                <a:solidFill>
                  <a:srgbClr val="64748B"/>
                </a:solidFill>
                <a:latin typeface="Meiryo"/>
              </a:defRPr>
            </a:pPr>
            <a:r>
              <a:rPr dirty="0" err="1"/>
              <a:t>サイズ・重量・都道府県・距離別運賃・倉庫個別の割増率・個別運賃設定まで考慮した厳密な金額計算を行います</a:t>
            </a:r>
            <a:r>
              <a:rPr dirty="0"/>
              <a:t>。</a:t>
            </a:r>
          </a:p>
          <a:p>
            <a:pPr>
              <a:spcBef>
                <a:spcPts val="800"/>
              </a:spcBef>
              <a:defRPr sz="1300" b="1">
                <a:solidFill>
                  <a:srgbClr val="1E293B"/>
                </a:solidFill>
                <a:latin typeface="Meiryo"/>
              </a:defRPr>
            </a:pPr>
            <a:r>
              <a:rPr dirty="0"/>
              <a:t>■ </a:t>
            </a:r>
            <a:r>
              <a:rPr dirty="0" err="1"/>
              <a:t>物流コストの大幅な削減</a:t>
            </a:r>
            <a:endParaRPr dirty="0"/>
          </a:p>
          <a:p>
            <a:pPr>
              <a:spcAft>
                <a:spcPts val="600"/>
              </a:spcAft>
              <a:defRPr sz="1100">
                <a:solidFill>
                  <a:srgbClr val="64748B"/>
                </a:solidFill>
                <a:latin typeface="Meiryo"/>
              </a:defRPr>
            </a:pPr>
            <a:r>
              <a:rPr dirty="0" err="1"/>
              <a:t>出荷データごとに最も安価な配送事業者・配送方法（路線</a:t>
            </a:r>
            <a:r>
              <a:rPr dirty="0"/>
              <a:t>/</a:t>
            </a:r>
            <a:r>
              <a:rPr dirty="0" err="1"/>
              <a:t>個配）を選択でき、年間配送費の直接削減に貢献します</a:t>
            </a:r>
            <a:r>
              <a:rPr dirty="0"/>
              <a:t>。</a:t>
            </a:r>
            <a:endParaRPr lang="en-US" dirty="0"/>
          </a:p>
        </p:txBody>
      </p:sp>
      <p:sp>
        <p:nvSpPr>
          <p:cNvPr id="8" name="Rectangle 7"/>
          <p:cNvSpPr/>
          <p:nvPr/>
        </p:nvSpPr>
        <p:spPr>
          <a:xfrm>
            <a:off x="5074920" y="2606153"/>
            <a:ext cx="6400800" cy="2560091"/>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0" y="2548217"/>
            <a:ext cx="6400800" cy="2689411"/>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図 11">
            <a:extLst>
              <a:ext uri="{FF2B5EF4-FFF2-40B4-BE49-F238E27FC236}">
                <a16:creationId xmlns:a16="http://schemas.microsoft.com/office/drawing/2014/main" id="{73FCC10F-D8EB-F07D-34FD-6B287F8897F6}"/>
              </a:ext>
            </a:extLst>
          </p:cNvPr>
          <p:cNvPicPr>
            <a:picLocks noChangeAspect="1"/>
          </p:cNvPicPr>
          <p:nvPr/>
        </p:nvPicPr>
        <p:blipFill>
          <a:blip r:embed="rId2"/>
          <a:stretch>
            <a:fillRect/>
          </a:stretch>
        </p:blipFill>
        <p:spPr>
          <a:xfrm>
            <a:off x="5046681" y="2606153"/>
            <a:ext cx="6420317" cy="25600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OUTBOUND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出庫管理：送り状データCSV出力 ＆ 配送ラベル発行</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57200"/>
          </a:xfrm>
          <a:prstGeom prst="rect">
            <a:avLst/>
          </a:prstGeom>
          <a:noFill/>
        </p:spPr>
        <p:txBody>
          <a:bodyPr wrap="none">
            <a:spAutoFit/>
          </a:bodyPr>
          <a:lstStyle/>
          <a:p>
            <a:pPr>
              <a:defRPr sz="1600" b="1">
                <a:solidFill>
                  <a:srgbClr val="1E3A8A"/>
                </a:solidFill>
                <a:latin typeface="Meiryo"/>
              </a:defRPr>
            </a:pPr>
            <a:r>
              <a:t>機能のポイント</a:t>
            </a:r>
          </a:p>
        </p:txBody>
      </p:sp>
      <p:sp>
        <p:nvSpPr>
          <p:cNvPr id="7" name="TextBox 6"/>
          <p:cNvSpPr txBox="1"/>
          <p:nvPr/>
        </p:nvSpPr>
        <p:spPr>
          <a:xfrm>
            <a:off x="914400" y="2011680"/>
            <a:ext cx="3749039" cy="4206240"/>
          </a:xfrm>
          <a:prstGeom prst="rect">
            <a:avLst/>
          </a:prstGeom>
          <a:noFill/>
        </p:spPr>
        <p:txBody>
          <a:bodyPr wrap="square">
            <a:spAutoFit/>
          </a:bodyPr>
          <a:lstStyle/>
          <a:p>
            <a:pPr>
              <a:spcBef>
                <a:spcPts val="0"/>
              </a:spcBef>
              <a:defRPr sz="1300" b="1">
                <a:solidFill>
                  <a:srgbClr val="1E293B"/>
                </a:solidFill>
                <a:latin typeface="Meiryo"/>
              </a:defRPr>
            </a:pPr>
            <a:r>
              <a:t>■ 主要配送ソフト用CSVの自動生成</a:t>
            </a:r>
          </a:p>
          <a:p>
            <a:pPr>
              <a:spcAft>
                <a:spcPts val="600"/>
              </a:spcAft>
              <a:defRPr sz="1100">
                <a:solidFill>
                  <a:srgbClr val="64748B"/>
                </a:solidFill>
                <a:latin typeface="Meiryo"/>
              </a:defRPr>
            </a:pPr>
            <a:r>
              <a:t>確定した出庫データから、ヤマトB2 Cloud、佐川e飛伝等に直接取り込める形式の送り状CSVをワンクリックで生成します。</a:t>
            </a:r>
          </a:p>
          <a:p>
            <a:pPr>
              <a:spcBef>
                <a:spcPts val="800"/>
              </a:spcBef>
              <a:defRPr sz="1300" b="1">
                <a:solidFill>
                  <a:srgbClr val="1E293B"/>
                </a:solidFill>
                <a:latin typeface="Meiryo"/>
              </a:defRPr>
            </a:pPr>
            <a:r>
              <a:t>■ 配送ラベルの即時発行・印刷</a:t>
            </a:r>
          </a:p>
          <a:p>
            <a:pPr>
              <a:spcAft>
                <a:spcPts val="600"/>
              </a:spcAft>
              <a:defRPr sz="1100">
                <a:solidFill>
                  <a:srgbClr val="64748B"/>
                </a:solidFill>
                <a:latin typeface="Meiryo"/>
              </a:defRPr>
            </a:pPr>
            <a:r>
              <a:t>倉庫現場で必要な配送ラベルや納品指示書を画面から直接プレビュー＆プリンター発行できます。</a:t>
            </a:r>
          </a:p>
          <a:p>
            <a:pPr>
              <a:spcBef>
                <a:spcPts val="800"/>
              </a:spcBef>
              <a:defRPr sz="1300" b="1">
                <a:solidFill>
                  <a:srgbClr val="1E293B"/>
                </a:solidFill>
                <a:latin typeface="Meiryo"/>
              </a:defRPr>
            </a:pPr>
            <a:r>
              <a:t>■ 出庫確定とステータス連動</a:t>
            </a:r>
          </a:p>
          <a:p>
            <a:pPr>
              <a:spcAft>
                <a:spcPts val="600"/>
              </a:spcAft>
              <a:defRPr sz="1100">
                <a:solidFill>
                  <a:srgbClr val="64748B"/>
                </a:solidFill>
                <a:latin typeface="Meiryo"/>
              </a:defRPr>
            </a:pPr>
            <a:r>
              <a:t>送り状データ出力・ラベル発行と同時に在庫を正式に「21:出庫済」に更新し、二重出庫を防止します。</a:t>
            </a:r>
          </a:p>
        </p:txBody>
      </p:sp>
      <p:sp>
        <p:nvSpPr>
          <p:cNvPr id="8" name="Rectangle 7"/>
          <p:cNvSpPr/>
          <p:nvPr/>
        </p:nvSpPr>
        <p:spPr>
          <a:xfrm>
            <a:off x="5074920" y="2201913"/>
            <a:ext cx="6400800" cy="3368573"/>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outbound_shipping_label.png"/>
          <p:cNvPicPr>
            <a:picLocks noChangeAspect="1"/>
          </p:cNvPicPr>
          <p:nvPr/>
        </p:nvPicPr>
        <p:blipFill>
          <a:blip r:embed="rId2"/>
          <a:stretch>
            <a:fillRect/>
          </a:stretch>
        </p:blipFill>
        <p:spPr>
          <a:xfrm>
            <a:off x="5029200" y="2156193"/>
            <a:ext cx="6400800" cy="3368573"/>
          </a:xfrm>
          <a:prstGeom prst="rect">
            <a:avLst/>
          </a:prstGeom>
        </p:spPr>
      </p:pic>
      <p:sp>
        <p:nvSpPr>
          <p:cNvPr id="10" name="Rectangle 9"/>
          <p:cNvSpPr/>
          <p:nvPr/>
        </p:nvSpPr>
        <p:spPr>
          <a:xfrm>
            <a:off x="5029200" y="2156193"/>
            <a:ext cx="6400800" cy="3368573"/>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MASTER MANAGEMENT</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マスタ管理：物流オペレーション ＆ 運賃計算の基盤設定</a:t>
            </a:r>
          </a:p>
        </p:txBody>
      </p:sp>
      <p:sp>
        <p:nvSpPr>
          <p:cNvPr id="5" name="Rounded Rectangle 4"/>
          <p:cNvSpPr/>
          <p:nvPr/>
        </p:nvSpPr>
        <p:spPr>
          <a:xfrm>
            <a:off x="731520" y="1280160"/>
            <a:ext cx="4114800"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40"/>
            <a:ext cx="3749039" cy="4754880"/>
          </a:xfrm>
          <a:prstGeom prst="rect">
            <a:avLst/>
          </a:prstGeom>
          <a:noFill/>
        </p:spPr>
        <p:txBody>
          <a:bodyPr wrap="square">
            <a:spAutoFit/>
          </a:bodyPr>
          <a:lstStyle/>
          <a:p>
            <a:pPr>
              <a:spcBef>
                <a:spcPts val="0"/>
              </a:spcBef>
              <a:defRPr sz="1300" b="1">
                <a:solidFill>
                  <a:srgbClr val="1E293B"/>
                </a:solidFill>
                <a:latin typeface="Meiryo"/>
              </a:defRPr>
            </a:pPr>
            <a:r>
              <a:t>■ 基本物流マスタ群</a:t>
            </a:r>
          </a:p>
          <a:p>
            <a:pPr>
              <a:spcAft>
                <a:spcPts val="600"/>
              </a:spcAft>
              <a:defRPr sz="1100">
                <a:solidFill>
                  <a:srgbClr val="64748B"/>
                </a:solidFill>
                <a:latin typeface="Meiryo"/>
              </a:defRPr>
            </a:pPr>
            <a:r>
              <a:t>荷主、商品、倉庫、運送会社、出荷区分、集荷エリア、郵便番号マスタを統合管理。柔軟なマルチ荷主構築を支援。</a:t>
            </a:r>
          </a:p>
          <a:p>
            <a:pPr>
              <a:spcBef>
                <a:spcPts val="800"/>
              </a:spcBef>
              <a:defRPr sz="1300" b="1">
                <a:solidFill>
                  <a:srgbClr val="1E293B"/>
                </a:solidFill>
                <a:latin typeface="Meiryo"/>
              </a:defRPr>
            </a:pPr>
            <a:r>
              <a:t>■ 高機能運賃設定エンジン</a:t>
            </a:r>
          </a:p>
          <a:p>
            <a:pPr>
              <a:spcAft>
                <a:spcPts val="600"/>
              </a:spcAft>
              <a:defRPr sz="1100">
                <a:solidFill>
                  <a:srgbClr val="64748B"/>
                </a:solidFill>
                <a:latin typeface="Meiryo"/>
              </a:defRPr>
            </a:pPr>
            <a:r>
              <a:t>運賃表マスタ、距離マスタ、距離別運賃、倉庫距離割増率、個別運賃マスタにより、複雑な計算ルールを正確に再現。</a:t>
            </a:r>
          </a:p>
          <a:p>
            <a:pPr>
              <a:spcBef>
                <a:spcPts val="800"/>
              </a:spcBef>
              <a:defRPr sz="1300" b="1">
                <a:solidFill>
                  <a:srgbClr val="1E293B"/>
                </a:solidFill>
                <a:latin typeface="Meiryo"/>
              </a:defRPr>
            </a:pPr>
            <a:r>
              <a:t>■ 運用変更への高い拡張性</a:t>
            </a:r>
          </a:p>
          <a:p>
            <a:pPr>
              <a:spcAft>
                <a:spcPts val="600"/>
              </a:spcAft>
              <a:defRPr sz="1100">
                <a:solidFill>
                  <a:srgbClr val="64748B"/>
                </a:solidFill>
                <a:latin typeface="Meiryo"/>
              </a:defRPr>
            </a:pPr>
            <a:r>
              <a:t>運送会社の運賃改定や新倉庫開設時も、マスタ設定の更新のみで即座に全自動選定エンジンに反映可能です。</a:t>
            </a:r>
          </a:p>
        </p:txBody>
      </p:sp>
      <p:sp>
        <p:nvSpPr>
          <p:cNvPr id="7" name="Rectangle 6"/>
          <p:cNvSpPr/>
          <p:nvPr/>
        </p:nvSpPr>
        <p:spPr>
          <a:xfrm>
            <a:off x="5973134" y="1325880"/>
            <a:ext cx="4604370" cy="24231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aster_freight_table.png"/>
          <p:cNvPicPr>
            <a:picLocks noChangeAspect="1"/>
          </p:cNvPicPr>
          <p:nvPr/>
        </p:nvPicPr>
        <p:blipFill>
          <a:blip r:embed="rId2"/>
          <a:stretch>
            <a:fillRect/>
          </a:stretch>
        </p:blipFill>
        <p:spPr>
          <a:xfrm>
            <a:off x="5927414" y="1280160"/>
            <a:ext cx="4604370" cy="2423160"/>
          </a:xfrm>
          <a:prstGeom prst="rect">
            <a:avLst/>
          </a:prstGeom>
        </p:spPr>
      </p:pic>
      <p:sp>
        <p:nvSpPr>
          <p:cNvPr id="9" name="Rectangle 8"/>
          <p:cNvSpPr/>
          <p:nvPr/>
        </p:nvSpPr>
        <p:spPr>
          <a:xfrm>
            <a:off x="5927414" y="1280160"/>
            <a:ext cx="4604370" cy="2423160"/>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86259" y="3931920"/>
            <a:ext cx="4778120" cy="25146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master_product.png"/>
          <p:cNvPicPr>
            <a:picLocks noChangeAspect="1"/>
          </p:cNvPicPr>
          <p:nvPr/>
        </p:nvPicPr>
        <p:blipFill>
          <a:blip r:embed="rId3"/>
          <a:stretch>
            <a:fillRect/>
          </a:stretch>
        </p:blipFill>
        <p:spPr>
          <a:xfrm>
            <a:off x="5840539" y="3886200"/>
            <a:ext cx="4778120" cy="2514600"/>
          </a:xfrm>
          <a:prstGeom prst="rect">
            <a:avLst/>
          </a:prstGeom>
        </p:spPr>
      </p:pic>
      <p:sp>
        <p:nvSpPr>
          <p:cNvPr id="12" name="Rectangle 11"/>
          <p:cNvSpPr/>
          <p:nvPr/>
        </p:nvSpPr>
        <p:spPr>
          <a:xfrm>
            <a:off x="5840539" y="3886200"/>
            <a:ext cx="4778120" cy="2514600"/>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FUTURE ISSUES &amp; ROADMAP</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今後の実装課題①：WMS基盤機能の拡張（未実装機能の洗い出し）</a:t>
            </a:r>
          </a:p>
        </p:txBody>
      </p:sp>
      <p:sp>
        <p:nvSpPr>
          <p:cNvPr id="5" name="Rounded Rectangle 4"/>
          <p:cNvSpPr/>
          <p:nvPr/>
        </p:nvSpPr>
        <p:spPr>
          <a:xfrm>
            <a:off x="731520" y="137160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71600"/>
            <a:ext cx="5120640" cy="457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  請求・保管料計算機能 (Billing)</a:t>
            </a:r>
          </a:p>
        </p:txBody>
      </p:sp>
      <p:sp>
        <p:nvSpPr>
          <p:cNvPr id="7" name="TextBox 6"/>
          <p:cNvSpPr txBox="1"/>
          <p:nvPr/>
        </p:nvSpPr>
        <p:spPr>
          <a:xfrm>
            <a:off x="914400" y="1920240"/>
            <a:ext cx="4754880" cy="923330"/>
          </a:xfrm>
          <a:prstGeom prst="rect">
            <a:avLst/>
          </a:prstGeom>
          <a:noFill/>
        </p:spPr>
        <p:txBody>
          <a:bodyPr wrap="square">
            <a:spAutoFit/>
          </a:bodyPr>
          <a:lstStyle/>
          <a:p>
            <a:pPr>
              <a:spcAft>
                <a:spcPts val="400"/>
              </a:spcAft>
              <a:defRPr sz="1100">
                <a:solidFill>
                  <a:srgbClr val="1E293B"/>
                </a:solidFill>
                <a:latin typeface="Meiryo"/>
              </a:defRPr>
            </a:pPr>
            <a:r>
              <a:rPr dirty="0"/>
              <a:t>• </a:t>
            </a:r>
            <a:r>
              <a:rPr dirty="0" err="1"/>
              <a:t>荷主別の坪貸し</a:t>
            </a:r>
            <a:r>
              <a:rPr dirty="0"/>
              <a:t> / </a:t>
            </a:r>
            <a:r>
              <a:rPr dirty="0" err="1"/>
              <a:t>パレット</a:t>
            </a:r>
            <a:r>
              <a:rPr dirty="0"/>
              <a:t> / </a:t>
            </a:r>
            <a:r>
              <a:rPr dirty="0" err="1"/>
              <a:t>ケース保管料の自動集計</a:t>
            </a:r>
            <a:endParaRPr dirty="0"/>
          </a:p>
          <a:p>
            <a:pPr>
              <a:spcAft>
                <a:spcPts val="400"/>
              </a:spcAft>
              <a:defRPr sz="1100">
                <a:solidFill>
                  <a:srgbClr val="1E293B"/>
                </a:solidFill>
                <a:latin typeface="Meiryo"/>
              </a:defRPr>
            </a:pPr>
            <a:r>
              <a:rPr dirty="0"/>
              <a:t>• </a:t>
            </a:r>
            <a:r>
              <a:rPr dirty="0" err="1"/>
              <a:t>入出庫作業費・梱包資材費・ラベル貼り作業費の計算</a:t>
            </a:r>
            <a:endParaRPr dirty="0"/>
          </a:p>
          <a:p>
            <a:pPr>
              <a:spcAft>
                <a:spcPts val="400"/>
              </a:spcAft>
              <a:defRPr sz="1100">
                <a:solidFill>
                  <a:srgbClr val="1E293B"/>
                </a:solidFill>
                <a:latin typeface="Meiryo"/>
              </a:defRPr>
            </a:pPr>
            <a:r>
              <a:rPr dirty="0"/>
              <a:t>• </a:t>
            </a:r>
            <a:r>
              <a:rPr dirty="0" err="1"/>
              <a:t>荷主締め日処理</a:t>
            </a:r>
            <a:r>
              <a:rPr dirty="0"/>
              <a:t> ＆ </a:t>
            </a:r>
            <a:r>
              <a:rPr dirty="0" err="1"/>
              <a:t>月次請求書データ（PDF</a:t>
            </a:r>
            <a:r>
              <a:rPr dirty="0"/>
              <a:t>/</a:t>
            </a:r>
            <a:r>
              <a:rPr dirty="0" err="1"/>
              <a:t>CSV）発行</a:t>
            </a:r>
            <a:endParaRPr lang="en-US" dirty="0"/>
          </a:p>
          <a:p>
            <a:pPr>
              <a:spcAft>
                <a:spcPts val="400"/>
              </a:spcAft>
              <a:defRPr sz="1100">
                <a:solidFill>
                  <a:srgbClr val="1E293B"/>
                </a:solidFill>
                <a:latin typeface="Meiryo"/>
              </a:defRPr>
            </a:pPr>
            <a:r>
              <a:rPr lang="en-US" altLang="ja-JP" dirty="0">
                <a:latin typeface="メイリオ" panose="020B0604030504040204" pitchFamily="50" charset="-128"/>
                <a:ea typeface="メイリオ" panose="020B0604030504040204" pitchFamily="50" charset="-128"/>
              </a:rPr>
              <a:t>• </a:t>
            </a:r>
            <a:r>
              <a:rPr lang="ja-JP" altLang="en-US" dirty="0">
                <a:latin typeface="メイリオ" panose="020B0604030504040204" pitchFamily="50" charset="-128"/>
                <a:ea typeface="メイリオ" panose="020B0604030504040204" pitchFamily="50" charset="-128"/>
              </a:rPr>
              <a:t>燃料サーチャージへの対応</a:t>
            </a:r>
          </a:p>
        </p:txBody>
      </p:sp>
      <p:sp>
        <p:nvSpPr>
          <p:cNvPr id="8" name="Rounded Rectangle 7"/>
          <p:cNvSpPr/>
          <p:nvPr/>
        </p:nvSpPr>
        <p:spPr>
          <a:xfrm>
            <a:off x="6126480" y="137160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0" y="1371600"/>
            <a:ext cx="5120640" cy="4572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  作業報告・レポート出力 (Reporting)</a:t>
            </a:r>
          </a:p>
        </p:txBody>
      </p:sp>
      <p:sp>
        <p:nvSpPr>
          <p:cNvPr id="10" name="TextBox 9"/>
          <p:cNvSpPr txBox="1"/>
          <p:nvPr/>
        </p:nvSpPr>
        <p:spPr>
          <a:xfrm>
            <a:off x="6309360" y="1920240"/>
            <a:ext cx="4754880" cy="1554480"/>
          </a:xfrm>
          <a:prstGeom prst="rect">
            <a:avLst/>
          </a:prstGeom>
          <a:noFill/>
        </p:spPr>
        <p:txBody>
          <a:bodyPr wrap="square">
            <a:spAutoFit/>
          </a:bodyPr>
          <a:lstStyle/>
          <a:p>
            <a:pPr>
              <a:spcAft>
                <a:spcPts val="400"/>
              </a:spcAft>
              <a:defRPr sz="1100">
                <a:solidFill>
                  <a:srgbClr val="1E293B"/>
                </a:solidFill>
                <a:latin typeface="Meiryo"/>
              </a:defRPr>
            </a:pPr>
            <a:r>
              <a:t>• 日次/月次の荷主別・倉庫別入出庫作業実績レポート</a:t>
            </a:r>
          </a:p>
          <a:p>
            <a:pPr>
              <a:spcAft>
                <a:spcPts val="400"/>
              </a:spcAft>
              <a:defRPr sz="1100">
                <a:solidFill>
                  <a:srgbClr val="1E293B"/>
                </a:solidFill>
                <a:latin typeface="Meiryo"/>
              </a:defRPr>
            </a:pPr>
            <a:r>
              <a:t>• 在庫回転率・長期間滞留在庫の警告アラート出力</a:t>
            </a:r>
          </a:p>
          <a:p>
            <a:pPr>
              <a:spcAft>
                <a:spcPts val="400"/>
              </a:spcAft>
              <a:defRPr sz="1100">
                <a:solidFill>
                  <a:srgbClr val="1E293B"/>
                </a:solidFill>
                <a:latin typeface="Meiryo"/>
              </a:defRPr>
            </a:pPr>
            <a:r>
              <a:t>• 運賃シミュレーションによる運賃削減成果ダッシュボード</a:t>
            </a:r>
          </a:p>
        </p:txBody>
      </p:sp>
      <p:sp>
        <p:nvSpPr>
          <p:cNvPr id="11" name="Rounded Rectangle 10"/>
          <p:cNvSpPr/>
          <p:nvPr/>
        </p:nvSpPr>
        <p:spPr>
          <a:xfrm>
            <a:off x="731520" y="3840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3840480"/>
            <a:ext cx="5120640"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  棚卸・棚差調整機能 (Stock Taking)</a:t>
            </a:r>
          </a:p>
        </p:txBody>
      </p:sp>
      <p:sp>
        <p:nvSpPr>
          <p:cNvPr id="13" name="TextBox 12"/>
          <p:cNvSpPr txBox="1"/>
          <p:nvPr/>
        </p:nvSpPr>
        <p:spPr>
          <a:xfrm>
            <a:off x="914400" y="4389120"/>
            <a:ext cx="4754880" cy="1554480"/>
          </a:xfrm>
          <a:prstGeom prst="rect">
            <a:avLst/>
          </a:prstGeom>
          <a:noFill/>
        </p:spPr>
        <p:txBody>
          <a:bodyPr wrap="square">
            <a:spAutoFit/>
          </a:bodyPr>
          <a:lstStyle/>
          <a:p>
            <a:pPr>
              <a:spcAft>
                <a:spcPts val="400"/>
              </a:spcAft>
              <a:defRPr sz="1100">
                <a:solidFill>
                  <a:srgbClr val="1E293B"/>
                </a:solidFill>
                <a:latin typeface="Meiryo"/>
              </a:defRPr>
            </a:pPr>
            <a:r>
              <a:t>• 定期/臨時棚卸のカウント実査データ入力画面</a:t>
            </a:r>
          </a:p>
          <a:p>
            <a:pPr>
              <a:spcAft>
                <a:spcPts val="400"/>
              </a:spcAft>
              <a:defRPr sz="1100">
                <a:solidFill>
                  <a:srgbClr val="1E293B"/>
                </a:solidFill>
                <a:latin typeface="Meiryo"/>
              </a:defRPr>
            </a:pPr>
            <a:r>
              <a:t>• 理論在庫 vs 実在庫の差異（棚差）の自動検出と承認</a:t>
            </a:r>
          </a:p>
          <a:p>
            <a:pPr>
              <a:spcAft>
                <a:spcPts val="400"/>
              </a:spcAft>
              <a:defRPr sz="1100">
                <a:solidFill>
                  <a:srgbClr val="1E293B"/>
                </a:solidFill>
                <a:latin typeface="Meiryo"/>
              </a:defRPr>
            </a:pPr>
            <a:r>
              <a:t>• 棚卸実施中の該当倉庫ステータス制御 ＆ 監査トラッキング</a:t>
            </a:r>
          </a:p>
        </p:txBody>
      </p:sp>
      <p:sp>
        <p:nvSpPr>
          <p:cNvPr id="14" name="Rounded Rectangle 13"/>
          <p:cNvSpPr/>
          <p:nvPr/>
        </p:nvSpPr>
        <p:spPr>
          <a:xfrm>
            <a:off x="6126480" y="3840480"/>
            <a:ext cx="512064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3840480"/>
            <a:ext cx="512064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  詳細ロケーション管理 (Location)</a:t>
            </a:r>
          </a:p>
        </p:txBody>
      </p:sp>
      <p:sp>
        <p:nvSpPr>
          <p:cNvPr id="16" name="TextBox 15"/>
          <p:cNvSpPr txBox="1"/>
          <p:nvPr/>
        </p:nvSpPr>
        <p:spPr>
          <a:xfrm>
            <a:off x="6309360" y="4389120"/>
            <a:ext cx="4754880" cy="1554480"/>
          </a:xfrm>
          <a:prstGeom prst="rect">
            <a:avLst/>
          </a:prstGeom>
          <a:noFill/>
        </p:spPr>
        <p:txBody>
          <a:bodyPr wrap="square">
            <a:spAutoFit/>
          </a:bodyPr>
          <a:lstStyle/>
          <a:p>
            <a:pPr>
              <a:spcAft>
                <a:spcPts val="400"/>
              </a:spcAft>
              <a:defRPr sz="1100">
                <a:solidFill>
                  <a:srgbClr val="1E293B"/>
                </a:solidFill>
                <a:latin typeface="Meiryo"/>
              </a:defRPr>
            </a:pPr>
            <a:r>
              <a:t>• エリア・ラック・棚・段単位のロケーションアドレス指定</a:t>
            </a:r>
          </a:p>
          <a:p>
            <a:pPr>
              <a:spcAft>
                <a:spcPts val="400"/>
              </a:spcAft>
              <a:defRPr sz="1100">
                <a:solidFill>
                  <a:srgbClr val="1E293B"/>
                </a:solidFill>
                <a:latin typeface="Meiryo"/>
              </a:defRPr>
            </a:pPr>
            <a:r>
              <a:t>• フリーロケーション運用 ＆ 入出庫作業動線の最適化</a:t>
            </a:r>
          </a:p>
          <a:p>
            <a:pPr>
              <a:spcAft>
                <a:spcPts val="400"/>
              </a:spcAft>
              <a:defRPr sz="1100">
                <a:solidFill>
                  <a:srgbClr val="1E293B"/>
                </a:solidFill>
                <a:latin typeface="Meiryo"/>
              </a:defRPr>
            </a:pPr>
            <a:r>
              <a:t>• 商品属性（重量・出荷頻度）に応じた最適ロケ配置提案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FUTURE ISSUES &amp; EXTENSION</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今後の実装課題②：荷主・倉庫作業者連携 ＆ 将来拡張性</a:t>
            </a:r>
          </a:p>
        </p:txBody>
      </p:sp>
      <p:sp>
        <p:nvSpPr>
          <p:cNvPr id="5" name="Rounded Rectangle 4"/>
          <p:cNvSpPr/>
          <p:nvPr/>
        </p:nvSpPr>
        <p:spPr>
          <a:xfrm>
            <a:off x="731520" y="1371600"/>
            <a:ext cx="34747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05840" y="1645920"/>
            <a:ext cx="109728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Meiryo"/>
              </a:defRPr>
            </a:pPr>
            <a:r>
              <a:t>荷主連携</a:t>
            </a:r>
          </a:p>
        </p:txBody>
      </p:sp>
      <p:sp>
        <p:nvSpPr>
          <p:cNvPr id="7" name="TextBox 6"/>
          <p:cNvSpPr txBox="1"/>
          <p:nvPr/>
        </p:nvSpPr>
        <p:spPr>
          <a:xfrm>
            <a:off x="914400" y="2057400"/>
            <a:ext cx="3108960" cy="822960"/>
          </a:xfrm>
          <a:prstGeom prst="rect">
            <a:avLst/>
          </a:prstGeom>
          <a:noFill/>
        </p:spPr>
        <p:txBody>
          <a:bodyPr wrap="square">
            <a:spAutoFit/>
          </a:bodyPr>
          <a:lstStyle/>
          <a:p>
            <a:pPr>
              <a:defRPr sz="1500" b="1">
                <a:solidFill>
                  <a:srgbClr val="1E293B"/>
                </a:solidFill>
                <a:latin typeface="Meiryo"/>
              </a:defRPr>
            </a:pPr>
            <a:r>
              <a:t>荷主向けWebポータル</a:t>
            </a:r>
            <a:br/>
            <a:r>
              <a:t>（荷主マイページ連携）</a:t>
            </a:r>
          </a:p>
        </p:txBody>
      </p:sp>
      <p:sp>
        <p:nvSpPr>
          <p:cNvPr id="8" name="Rectangle 7"/>
          <p:cNvSpPr/>
          <p:nvPr/>
        </p:nvSpPr>
        <p:spPr>
          <a:xfrm>
            <a:off x="1005840" y="2926080"/>
            <a:ext cx="292608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017520"/>
            <a:ext cx="3108960" cy="3108960"/>
          </a:xfrm>
          <a:prstGeom prst="rect">
            <a:avLst/>
          </a:prstGeom>
          <a:noFill/>
        </p:spPr>
        <p:txBody>
          <a:bodyPr wrap="square">
            <a:spAutoFit/>
          </a:bodyPr>
          <a:lstStyle/>
          <a:p>
            <a:pPr>
              <a:spcAft>
                <a:spcPts val="600"/>
              </a:spcAft>
              <a:defRPr sz="1100">
                <a:solidFill>
                  <a:srgbClr val="1E293B"/>
                </a:solidFill>
                <a:latin typeface="Meiryo"/>
              </a:defRPr>
            </a:pPr>
            <a:r>
              <a:t>✔ 荷主が自社のリアルタイム在庫数や出荷進捗を直接閲覧</a:t>
            </a:r>
          </a:p>
          <a:p>
            <a:pPr>
              <a:spcAft>
                <a:spcPts val="600"/>
              </a:spcAft>
              <a:defRPr sz="1100">
                <a:solidFill>
                  <a:srgbClr val="1E293B"/>
                </a:solidFill>
                <a:latin typeface="Meiryo"/>
              </a:defRPr>
            </a:pPr>
            <a:r>
              <a:t>✔ 配送コスト削減実績シミュレーションの荷主への可視化</a:t>
            </a:r>
          </a:p>
          <a:p>
            <a:pPr>
              <a:spcAft>
                <a:spcPts val="600"/>
              </a:spcAft>
              <a:defRPr sz="1100">
                <a:solidFill>
                  <a:srgbClr val="1E293B"/>
                </a:solidFill>
                <a:latin typeface="Meiryo"/>
              </a:defRPr>
            </a:pPr>
            <a:r>
              <a:t>✔ 荷主からの出荷指示データWeb直接登録・承認フロー</a:t>
            </a:r>
          </a:p>
          <a:p>
            <a:pPr>
              <a:spcAft>
                <a:spcPts val="600"/>
              </a:spcAft>
              <a:defRPr sz="1100" b="1">
                <a:solidFill>
                  <a:srgbClr val="1E3A8A"/>
                </a:solidFill>
                <a:latin typeface="Meiryo"/>
              </a:defRPr>
            </a:pPr>
            <a:r>
              <a:t>✔ 【課題】マルチテナント型権限管理とデータの厳格な隔離</a:t>
            </a:r>
          </a:p>
        </p:txBody>
      </p:sp>
      <p:sp>
        <p:nvSpPr>
          <p:cNvPr id="10" name="Rounded Rectangle 9"/>
          <p:cNvSpPr/>
          <p:nvPr/>
        </p:nvSpPr>
        <p:spPr>
          <a:xfrm>
            <a:off x="4343400" y="1371600"/>
            <a:ext cx="34747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617720" y="1645920"/>
            <a:ext cx="1097280" cy="32004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Meiryo"/>
              </a:defRPr>
            </a:pPr>
            <a:r>
              <a:t>作業者連携</a:t>
            </a:r>
          </a:p>
        </p:txBody>
      </p:sp>
      <p:sp>
        <p:nvSpPr>
          <p:cNvPr id="12" name="TextBox 11"/>
          <p:cNvSpPr txBox="1"/>
          <p:nvPr/>
        </p:nvSpPr>
        <p:spPr>
          <a:xfrm>
            <a:off x="4526280" y="2057400"/>
            <a:ext cx="3108960" cy="822960"/>
          </a:xfrm>
          <a:prstGeom prst="rect">
            <a:avLst/>
          </a:prstGeom>
          <a:noFill/>
        </p:spPr>
        <p:txBody>
          <a:bodyPr wrap="square">
            <a:spAutoFit/>
          </a:bodyPr>
          <a:lstStyle/>
          <a:p>
            <a:pPr>
              <a:defRPr sz="1500" b="1">
                <a:solidFill>
                  <a:srgbClr val="1E293B"/>
                </a:solidFill>
                <a:latin typeface="Meiryo"/>
              </a:defRPr>
            </a:pPr>
            <a:r>
              <a:t>現場作業者向けデジタル化</a:t>
            </a:r>
            <a:br/>
            <a:r>
              <a:t>（ハンディ・HT連携）</a:t>
            </a:r>
          </a:p>
        </p:txBody>
      </p:sp>
      <p:sp>
        <p:nvSpPr>
          <p:cNvPr id="13" name="Rectangle 12"/>
          <p:cNvSpPr/>
          <p:nvPr/>
        </p:nvSpPr>
        <p:spPr>
          <a:xfrm>
            <a:off x="4617720" y="2926080"/>
            <a:ext cx="292608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3017520"/>
            <a:ext cx="3108960" cy="3108960"/>
          </a:xfrm>
          <a:prstGeom prst="rect">
            <a:avLst/>
          </a:prstGeom>
          <a:noFill/>
        </p:spPr>
        <p:txBody>
          <a:bodyPr wrap="square">
            <a:spAutoFit/>
          </a:bodyPr>
          <a:lstStyle/>
          <a:p>
            <a:pPr>
              <a:spcAft>
                <a:spcPts val="600"/>
              </a:spcAft>
              <a:defRPr sz="1100">
                <a:solidFill>
                  <a:srgbClr val="1E293B"/>
                </a:solidFill>
                <a:latin typeface="Meiryo"/>
              </a:defRPr>
            </a:pPr>
            <a:r>
              <a:t>✔ バーコード / QRスキャンによる検品・ペーパーレスピッキング</a:t>
            </a:r>
          </a:p>
          <a:p>
            <a:pPr>
              <a:spcAft>
                <a:spcPts val="600"/>
              </a:spcAft>
              <a:defRPr sz="1100">
                <a:solidFill>
                  <a:srgbClr val="1E293B"/>
                </a:solidFill>
                <a:latin typeface="Meiryo"/>
              </a:defRPr>
            </a:pPr>
            <a:r>
              <a:t>✔ ハンディターミナル(HT)やスマホアプリからの即時データ更新</a:t>
            </a:r>
          </a:p>
          <a:p>
            <a:pPr>
              <a:spcAft>
                <a:spcPts val="600"/>
              </a:spcAft>
              <a:defRPr sz="1100">
                <a:solidFill>
                  <a:srgbClr val="1E293B"/>
                </a:solidFill>
                <a:latin typeface="Meiryo"/>
              </a:defRPr>
            </a:pPr>
            <a:r>
              <a:t>✔ 誤検品・誤出荷のリアルタイムアラート検知機能</a:t>
            </a:r>
          </a:p>
          <a:p>
            <a:pPr>
              <a:spcAft>
                <a:spcPts val="600"/>
              </a:spcAft>
              <a:defRPr sz="1100" b="1">
                <a:solidFill>
                  <a:srgbClr val="1E3A8A"/>
                </a:solidFill>
                <a:latin typeface="Meiryo"/>
              </a:defRPr>
            </a:pPr>
            <a:r>
              <a:t>✔ 【課題】現場の通信環境に依存しないオフライン処理対応</a:t>
            </a:r>
          </a:p>
        </p:txBody>
      </p:sp>
      <p:sp>
        <p:nvSpPr>
          <p:cNvPr id="15" name="Rounded Rectangle 14"/>
          <p:cNvSpPr/>
          <p:nvPr/>
        </p:nvSpPr>
        <p:spPr>
          <a:xfrm>
            <a:off x="7955280" y="1371600"/>
            <a:ext cx="347472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29600" y="1645920"/>
            <a:ext cx="109728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Meiryo"/>
              </a:defRPr>
            </a:pPr>
            <a:r>
              <a:t>外部連携</a:t>
            </a:r>
          </a:p>
        </p:txBody>
      </p:sp>
      <p:sp>
        <p:nvSpPr>
          <p:cNvPr id="17" name="TextBox 16"/>
          <p:cNvSpPr txBox="1"/>
          <p:nvPr/>
        </p:nvSpPr>
        <p:spPr>
          <a:xfrm>
            <a:off x="8138160" y="2057400"/>
            <a:ext cx="3108960" cy="822960"/>
          </a:xfrm>
          <a:prstGeom prst="rect">
            <a:avLst/>
          </a:prstGeom>
          <a:noFill/>
        </p:spPr>
        <p:txBody>
          <a:bodyPr wrap="square">
            <a:spAutoFit/>
          </a:bodyPr>
          <a:lstStyle/>
          <a:p>
            <a:pPr>
              <a:defRPr sz="1500" b="1">
                <a:solidFill>
                  <a:srgbClr val="1E293B"/>
                </a:solidFill>
                <a:latin typeface="Meiryo"/>
              </a:defRPr>
            </a:pPr>
            <a:r>
              <a:t>外部システム自動連動</a:t>
            </a:r>
            <a:br/>
            <a:r>
              <a:t>（API / EDI連携基盤）</a:t>
            </a:r>
          </a:p>
        </p:txBody>
      </p:sp>
      <p:sp>
        <p:nvSpPr>
          <p:cNvPr id="18" name="Rectangle 17"/>
          <p:cNvSpPr/>
          <p:nvPr/>
        </p:nvSpPr>
        <p:spPr>
          <a:xfrm>
            <a:off x="8229600" y="2926080"/>
            <a:ext cx="292608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38160" y="3017520"/>
            <a:ext cx="3108960" cy="3108960"/>
          </a:xfrm>
          <a:prstGeom prst="rect">
            <a:avLst/>
          </a:prstGeom>
          <a:noFill/>
        </p:spPr>
        <p:txBody>
          <a:bodyPr wrap="square">
            <a:spAutoFit/>
          </a:bodyPr>
          <a:lstStyle/>
          <a:p>
            <a:pPr>
              <a:spcAft>
                <a:spcPts val="600"/>
              </a:spcAft>
              <a:defRPr sz="1100">
                <a:solidFill>
                  <a:srgbClr val="1E293B"/>
                </a:solidFill>
                <a:latin typeface="Meiryo"/>
              </a:defRPr>
            </a:pPr>
            <a:r>
              <a:t>✔ Shopify / ネクストエンジン等のECカート/モール自動連動</a:t>
            </a:r>
          </a:p>
          <a:p>
            <a:pPr>
              <a:spcAft>
                <a:spcPts val="600"/>
              </a:spcAft>
              <a:defRPr sz="1100">
                <a:solidFill>
                  <a:srgbClr val="1E293B"/>
                </a:solidFill>
                <a:latin typeface="Meiryo"/>
              </a:defRPr>
            </a:pPr>
            <a:r>
              <a:t>✔ 基幹システム(ERP)や会計ソフトへの売上・請求データ自動送信</a:t>
            </a:r>
          </a:p>
          <a:p>
            <a:pPr>
              <a:spcAft>
                <a:spcPts val="600"/>
              </a:spcAft>
              <a:defRPr sz="1100">
                <a:solidFill>
                  <a:srgbClr val="1E293B"/>
                </a:solidFill>
                <a:latin typeface="Meiryo"/>
              </a:defRPr>
            </a:pPr>
            <a:r>
              <a:t>✔ 各運送会社荷物追跡APIとの自動ステータス同期</a:t>
            </a:r>
          </a:p>
          <a:p>
            <a:pPr>
              <a:spcAft>
                <a:spcPts val="600"/>
              </a:spcAft>
              <a:defRPr sz="1100" b="1">
                <a:solidFill>
                  <a:srgbClr val="1E3A8A"/>
                </a:solidFill>
                <a:latin typeface="Meiryo"/>
              </a:defRPr>
            </a:pPr>
            <a:r>
              <a:t>✔ 【課題】外部API仕様変更に対応する柔軟なアダプタ層設計</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
            <a:ext cx="9144000" cy="274320"/>
          </a:xfrm>
          <a:prstGeom prst="rect">
            <a:avLst/>
          </a:prstGeom>
          <a:noFill/>
        </p:spPr>
        <p:txBody>
          <a:bodyPr wrap="square">
            <a:spAutoFit/>
          </a:bodyPr>
          <a:lstStyle/>
          <a:p>
            <a:pPr>
              <a:defRPr sz="1100" b="1">
                <a:solidFill>
                  <a:srgbClr val="0EA5E9"/>
                </a:solidFill>
                <a:latin typeface="Meiryo"/>
              </a:defRPr>
            </a:pPr>
            <a:r>
              <a:t>ROADMAP &amp; NEXT STEPS</a:t>
            </a:r>
          </a:p>
        </p:txBody>
      </p:sp>
      <p:sp>
        <p:nvSpPr>
          <p:cNvPr id="4" name="TextBox 3"/>
          <p:cNvSpPr txBox="1"/>
          <p:nvPr/>
        </p:nvSpPr>
        <p:spPr>
          <a:xfrm>
            <a:off x="731520" y="365760"/>
            <a:ext cx="10515600" cy="548640"/>
          </a:xfrm>
          <a:prstGeom prst="rect">
            <a:avLst/>
          </a:prstGeom>
          <a:noFill/>
        </p:spPr>
        <p:txBody>
          <a:bodyPr wrap="square">
            <a:spAutoFit/>
          </a:bodyPr>
          <a:lstStyle/>
          <a:p>
            <a:pPr>
              <a:defRPr sz="2200" b="1">
                <a:solidFill>
                  <a:srgbClr val="FFFFFF"/>
                </a:solidFill>
                <a:latin typeface="Meiryo"/>
              </a:defRPr>
            </a:pPr>
            <a:r>
              <a:t>今後の開発ロードマップ ＆ システム推進上の課題</a:t>
            </a:r>
          </a:p>
        </p:txBody>
      </p:sp>
      <p:sp>
        <p:nvSpPr>
          <p:cNvPr id="5" name="Rounded Rectangle 4"/>
          <p:cNvSpPr/>
          <p:nvPr/>
        </p:nvSpPr>
        <p:spPr>
          <a:xfrm>
            <a:off x="731520" y="1371600"/>
            <a:ext cx="3474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71600"/>
            <a:ext cx="3474720" cy="640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PHASE 1 (現状)</a:t>
            </a:r>
          </a:p>
          <a:p>
            <a:pPr algn="ctr">
              <a:defRPr sz="1000">
                <a:solidFill>
                  <a:srgbClr val="FFFFFF"/>
                </a:solidFill>
                <a:latin typeface="Meiryo"/>
              </a:defRPr>
            </a:pPr>
            <a:r>
              <a:t>基本機能 ＆ 運賃最適化</a:t>
            </a:r>
          </a:p>
        </p:txBody>
      </p:sp>
      <p:sp>
        <p:nvSpPr>
          <p:cNvPr id="7" name="TextBox 6"/>
          <p:cNvSpPr txBox="1"/>
          <p:nvPr/>
        </p:nvSpPr>
        <p:spPr>
          <a:xfrm>
            <a:off x="914400" y="2103120"/>
            <a:ext cx="3108960" cy="2103120"/>
          </a:xfrm>
          <a:prstGeom prst="rect">
            <a:avLst/>
          </a:prstGeom>
          <a:noFill/>
        </p:spPr>
        <p:txBody>
          <a:bodyPr wrap="square">
            <a:spAutoFit/>
          </a:bodyPr>
          <a:lstStyle/>
          <a:p>
            <a:pPr>
              <a:spcAft>
                <a:spcPts val="400"/>
              </a:spcAft>
              <a:defRPr sz="1100">
                <a:solidFill>
                  <a:srgbClr val="1E293B"/>
                </a:solidFill>
                <a:latin typeface="Meiryo"/>
              </a:defRPr>
            </a:pPr>
            <a:r>
              <a:t>▶ 入出庫基本処理</a:t>
            </a:r>
          </a:p>
          <a:p>
            <a:pPr>
              <a:spcAft>
                <a:spcPts val="400"/>
              </a:spcAft>
              <a:defRPr sz="1100">
                <a:solidFill>
                  <a:srgbClr val="1E293B"/>
                </a:solidFill>
                <a:latin typeface="Meiryo"/>
              </a:defRPr>
            </a:pPr>
            <a:r>
              <a:t>▶ バラ箱/残数在庫管理</a:t>
            </a:r>
          </a:p>
          <a:p>
            <a:pPr>
              <a:spcAft>
                <a:spcPts val="400"/>
              </a:spcAft>
              <a:defRPr sz="1100">
                <a:solidFill>
                  <a:srgbClr val="1E293B"/>
                </a:solidFill>
                <a:latin typeface="Meiryo"/>
              </a:defRPr>
            </a:pPr>
            <a:r>
              <a:t>▶ 自動倉庫選定</a:t>
            </a:r>
          </a:p>
          <a:p>
            <a:pPr>
              <a:spcAft>
                <a:spcPts val="400"/>
              </a:spcAft>
              <a:defRPr sz="1100">
                <a:solidFill>
                  <a:srgbClr val="1E293B"/>
                </a:solidFill>
                <a:latin typeface="Meiryo"/>
              </a:defRPr>
            </a:pPr>
            <a:r>
              <a:t>▶ 高度運賃比較・ラベル発行</a:t>
            </a:r>
          </a:p>
        </p:txBody>
      </p:sp>
      <p:sp>
        <p:nvSpPr>
          <p:cNvPr id="8" name="Rounded Rectangle 7"/>
          <p:cNvSpPr/>
          <p:nvPr/>
        </p:nvSpPr>
        <p:spPr>
          <a:xfrm>
            <a:off x="4343400" y="1371600"/>
            <a:ext cx="3474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371600"/>
            <a:ext cx="3474720" cy="640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PHASE 2 (短期課題)</a:t>
            </a:r>
          </a:p>
          <a:p>
            <a:pPr algn="ctr">
              <a:defRPr sz="1000">
                <a:solidFill>
                  <a:srgbClr val="FFFFFF"/>
                </a:solidFill>
                <a:latin typeface="Meiryo"/>
              </a:defRPr>
            </a:pPr>
            <a:r>
              <a:t>WMS基盤機能拡張</a:t>
            </a:r>
          </a:p>
        </p:txBody>
      </p:sp>
      <p:sp>
        <p:nvSpPr>
          <p:cNvPr id="10" name="TextBox 9"/>
          <p:cNvSpPr txBox="1"/>
          <p:nvPr/>
        </p:nvSpPr>
        <p:spPr>
          <a:xfrm>
            <a:off x="4526280" y="2103120"/>
            <a:ext cx="3108960" cy="2103120"/>
          </a:xfrm>
          <a:prstGeom prst="rect">
            <a:avLst/>
          </a:prstGeom>
          <a:noFill/>
        </p:spPr>
        <p:txBody>
          <a:bodyPr wrap="square">
            <a:spAutoFit/>
          </a:bodyPr>
          <a:lstStyle/>
          <a:p>
            <a:pPr>
              <a:spcAft>
                <a:spcPts val="400"/>
              </a:spcAft>
              <a:defRPr sz="1100">
                <a:solidFill>
                  <a:srgbClr val="1E293B"/>
                </a:solidFill>
                <a:latin typeface="Meiryo"/>
              </a:defRPr>
            </a:pPr>
            <a:r>
              <a:t>▶ 請求・保管料自動計算</a:t>
            </a:r>
          </a:p>
          <a:p>
            <a:pPr>
              <a:spcAft>
                <a:spcPts val="400"/>
              </a:spcAft>
              <a:defRPr sz="1100">
                <a:solidFill>
                  <a:srgbClr val="1E293B"/>
                </a:solidFill>
                <a:latin typeface="Meiryo"/>
              </a:defRPr>
            </a:pPr>
            <a:r>
              <a:t>▶ 作業報告/帳票出力</a:t>
            </a:r>
          </a:p>
          <a:p>
            <a:pPr>
              <a:spcAft>
                <a:spcPts val="400"/>
              </a:spcAft>
              <a:defRPr sz="1100">
                <a:solidFill>
                  <a:srgbClr val="1E293B"/>
                </a:solidFill>
                <a:latin typeface="Meiryo"/>
              </a:defRPr>
            </a:pPr>
            <a:r>
              <a:t>▶ 棚卸・棚差調整機能</a:t>
            </a:r>
          </a:p>
          <a:p>
            <a:pPr>
              <a:spcAft>
                <a:spcPts val="400"/>
              </a:spcAft>
              <a:defRPr sz="1100">
                <a:solidFill>
                  <a:srgbClr val="1E293B"/>
                </a:solidFill>
                <a:latin typeface="Meiryo"/>
              </a:defRPr>
            </a:pPr>
            <a:r>
              <a:t>▶ ロケーション管理強化</a:t>
            </a:r>
          </a:p>
        </p:txBody>
      </p:sp>
      <p:sp>
        <p:nvSpPr>
          <p:cNvPr id="11" name="Rounded Rectangle 10"/>
          <p:cNvSpPr/>
          <p:nvPr/>
        </p:nvSpPr>
        <p:spPr>
          <a:xfrm>
            <a:off x="7955280" y="1371600"/>
            <a:ext cx="347472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955280" y="1371600"/>
            <a:ext cx="3474720" cy="6400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Meiryo"/>
              </a:defRPr>
            </a:pPr>
            <a:r>
              <a:t>PHASE 3 (中長期)</a:t>
            </a:r>
          </a:p>
          <a:p>
            <a:pPr algn="ctr">
              <a:defRPr sz="1000">
                <a:solidFill>
                  <a:srgbClr val="FFFFFF"/>
                </a:solidFill>
                <a:latin typeface="Meiryo"/>
              </a:defRPr>
            </a:pPr>
            <a:r>
              <a:t>エコシステム連携・デジタル化</a:t>
            </a:r>
          </a:p>
        </p:txBody>
      </p:sp>
      <p:sp>
        <p:nvSpPr>
          <p:cNvPr id="13" name="TextBox 12"/>
          <p:cNvSpPr txBox="1"/>
          <p:nvPr/>
        </p:nvSpPr>
        <p:spPr>
          <a:xfrm>
            <a:off x="8138160" y="2103120"/>
            <a:ext cx="3108960" cy="2103120"/>
          </a:xfrm>
          <a:prstGeom prst="rect">
            <a:avLst/>
          </a:prstGeom>
          <a:noFill/>
        </p:spPr>
        <p:txBody>
          <a:bodyPr wrap="square">
            <a:spAutoFit/>
          </a:bodyPr>
          <a:lstStyle/>
          <a:p>
            <a:pPr>
              <a:spcAft>
                <a:spcPts val="400"/>
              </a:spcAft>
              <a:defRPr sz="1100">
                <a:solidFill>
                  <a:srgbClr val="1E293B"/>
                </a:solidFill>
                <a:latin typeface="Meiryo"/>
              </a:defRPr>
            </a:pPr>
            <a:r>
              <a:t>▶ 荷主向けWebポータル</a:t>
            </a:r>
          </a:p>
          <a:p>
            <a:pPr>
              <a:spcAft>
                <a:spcPts val="400"/>
              </a:spcAft>
              <a:defRPr sz="1100">
                <a:solidFill>
                  <a:srgbClr val="1E293B"/>
                </a:solidFill>
                <a:latin typeface="Meiryo"/>
              </a:defRPr>
            </a:pPr>
            <a:r>
              <a:t>▶ ハンディ(HT)検品連携</a:t>
            </a:r>
          </a:p>
          <a:p>
            <a:pPr>
              <a:spcAft>
                <a:spcPts val="400"/>
              </a:spcAft>
              <a:defRPr sz="1100">
                <a:solidFill>
                  <a:srgbClr val="1E293B"/>
                </a:solidFill>
                <a:latin typeface="Meiryo"/>
              </a:defRPr>
            </a:pPr>
            <a:r>
              <a:t>▶ EC/ERP自動API連携</a:t>
            </a:r>
          </a:p>
          <a:p>
            <a:pPr>
              <a:spcAft>
                <a:spcPts val="400"/>
              </a:spcAft>
              <a:defRPr sz="1100">
                <a:solidFill>
                  <a:srgbClr val="1E293B"/>
                </a:solidFill>
                <a:latin typeface="Meiryo"/>
              </a:defRPr>
            </a:pPr>
            <a:r>
              <a:t>▶ AI需給・在庫予測</a:t>
            </a:r>
          </a:p>
        </p:txBody>
      </p:sp>
      <p:sp>
        <p:nvSpPr>
          <p:cNvPr id="14" name="Rounded Rectangle 13"/>
          <p:cNvSpPr/>
          <p:nvPr/>
        </p:nvSpPr>
        <p:spPr>
          <a:xfrm>
            <a:off x="731520" y="4480560"/>
            <a:ext cx="10698480" cy="19202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572000"/>
            <a:ext cx="10332720" cy="1737360"/>
          </a:xfrm>
          <a:prstGeom prst="rect">
            <a:avLst/>
          </a:prstGeom>
          <a:noFill/>
        </p:spPr>
        <p:txBody>
          <a:bodyPr wrap="square">
            <a:spAutoFit/>
          </a:bodyPr>
          <a:lstStyle/>
          <a:p>
            <a:pPr>
              <a:defRPr sz="1400" b="1">
                <a:solidFill>
                  <a:srgbClr val="1E3A8A"/>
                </a:solidFill>
                <a:latin typeface="Meiryo"/>
              </a:defRPr>
            </a:pPr>
            <a:r>
              <a:t>🔑 実装・運用推進に向けた3大技術検討課題</a:t>
            </a:r>
          </a:p>
          <a:p>
            <a:pPr>
              <a:spcBef>
                <a:spcPts val="300"/>
              </a:spcBef>
              <a:defRPr sz="1100">
                <a:solidFill>
                  <a:srgbClr val="1E293B"/>
                </a:solidFill>
                <a:latin typeface="Meiryo"/>
              </a:defRPr>
            </a:pPr>
            <a:r>
              <a:t>【1. 計算パフォーマンス最適化】: 荷主・出荷件数増大に伴う運賃マスタ・在庫マスタのクロス集計計算の高速化・非同期バッチ処理化。</a:t>
            </a:r>
          </a:p>
          <a:p>
            <a:pPr>
              <a:spcBef>
                <a:spcPts val="300"/>
              </a:spcBef>
              <a:defRPr sz="1100">
                <a:solidFill>
                  <a:srgbClr val="1E293B"/>
                </a:solidFill>
                <a:latin typeface="Meiryo"/>
              </a:defRPr>
            </a:pPr>
            <a:r>
              <a:t>【2. データセキュリティ ＆ マルチテナント】: 荷主ポータル公開時における荷主間データの完全論理隔離とアクセス制限。</a:t>
            </a:r>
          </a:p>
          <a:p>
            <a:pPr>
              <a:spcBef>
                <a:spcPts val="300"/>
              </a:spcBef>
              <a:defRPr sz="1100">
                <a:solidFill>
                  <a:srgbClr val="1E293B"/>
                </a:solidFill>
                <a:latin typeface="Meiryo"/>
              </a:defRPr>
            </a:pPr>
            <a:r>
              <a:t>【3. 現場UI/UX ＆ オペレーション適合】: 倉庫現場作業者が迷わず操作できるタブレット/ハンディUIと誤操作防止ガード。</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1097280" y="1371600"/>
            <a:ext cx="10058400" cy="914400"/>
          </a:xfrm>
          <a:prstGeom prst="rect">
            <a:avLst/>
          </a:prstGeom>
          <a:noFill/>
        </p:spPr>
        <p:txBody>
          <a:bodyPr wrap="none">
            <a:spAutoFit/>
          </a:bodyPr>
          <a:lstStyle/>
          <a:p>
            <a:pPr>
              <a:defRPr sz="2800" b="1">
                <a:solidFill>
                  <a:srgbClr val="FFFFFF"/>
                </a:solidFill>
                <a:latin typeface="Meiryo"/>
              </a:defRPr>
            </a:pPr>
            <a:r>
              <a:t>まとめ：YK特化WMSがもたらす価値と今後の進化</a:t>
            </a:r>
          </a:p>
        </p:txBody>
      </p:sp>
      <p:sp>
        <p:nvSpPr>
          <p:cNvPr id="3" name="Rounded Rectangle 2"/>
          <p:cNvSpPr/>
          <p:nvPr/>
        </p:nvSpPr>
        <p:spPr>
          <a:xfrm>
            <a:off x="1097280" y="2560320"/>
            <a:ext cx="4846320" cy="2926080"/>
          </a:xfrm>
          <a:prstGeom prst="roundRect">
            <a:avLst/>
          </a:prstGeom>
          <a:solidFill>
            <a:srgbClr val="1E293B"/>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2834640"/>
            <a:ext cx="4297680" cy="457200"/>
          </a:xfrm>
          <a:prstGeom prst="rect">
            <a:avLst/>
          </a:prstGeom>
          <a:noFill/>
        </p:spPr>
        <p:txBody>
          <a:bodyPr wrap="none">
            <a:spAutoFit/>
          </a:bodyPr>
          <a:lstStyle/>
          <a:p>
            <a:pPr>
              <a:defRPr sz="1800" b="1">
                <a:solidFill>
                  <a:srgbClr val="0EA5E9"/>
                </a:solidFill>
                <a:latin typeface="Meiryo"/>
              </a:defRPr>
            </a:pPr>
            <a:r>
              <a:t>現状提供価値（強み）</a:t>
            </a:r>
          </a:p>
        </p:txBody>
      </p:sp>
      <p:sp>
        <p:nvSpPr>
          <p:cNvPr id="5" name="TextBox 4"/>
          <p:cNvSpPr txBox="1"/>
          <p:nvPr/>
        </p:nvSpPr>
        <p:spPr>
          <a:xfrm>
            <a:off x="1371600" y="3383280"/>
            <a:ext cx="4297680" cy="1828800"/>
          </a:xfrm>
          <a:prstGeom prst="rect">
            <a:avLst/>
          </a:prstGeom>
          <a:noFill/>
        </p:spPr>
        <p:txBody>
          <a:bodyPr wrap="square">
            <a:spAutoFit/>
          </a:bodyPr>
          <a:lstStyle/>
          <a:p>
            <a:pPr>
              <a:defRPr sz="1300">
                <a:solidFill>
                  <a:srgbClr val="FFFFFF"/>
                </a:solidFill>
                <a:latin typeface="Meiryo"/>
              </a:defRPr>
            </a:pPr>
            <a:r>
              <a:t>✔ バラ箱残数管理による現場在庫の精度向上</a:t>
            </a:r>
            <a:br/>
            <a:r>
              <a:t>✔ 自動倉庫選定 ＆ 高度運賃比較による配送コスト最適化</a:t>
            </a:r>
            <a:br/>
            <a:r>
              <a:t>✔ Excel指示取込から送り状発行までの一気通貫オペレーション</a:t>
            </a:r>
          </a:p>
        </p:txBody>
      </p:sp>
      <p:sp>
        <p:nvSpPr>
          <p:cNvPr id="6" name="Rounded Rectangle 5"/>
          <p:cNvSpPr/>
          <p:nvPr/>
        </p:nvSpPr>
        <p:spPr>
          <a:xfrm>
            <a:off x="6217920" y="2560320"/>
            <a:ext cx="4846320" cy="292608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2834640"/>
            <a:ext cx="4297680" cy="457200"/>
          </a:xfrm>
          <a:prstGeom prst="rect">
            <a:avLst/>
          </a:prstGeom>
          <a:noFill/>
        </p:spPr>
        <p:txBody>
          <a:bodyPr wrap="none">
            <a:spAutoFit/>
          </a:bodyPr>
          <a:lstStyle/>
          <a:p>
            <a:pPr>
              <a:defRPr sz="1800" b="1">
                <a:solidFill>
                  <a:srgbClr val="10B981"/>
                </a:solidFill>
                <a:latin typeface="Meiryo"/>
              </a:defRPr>
            </a:pPr>
            <a:r>
              <a:t>今後の進化（ロードマップ）</a:t>
            </a:r>
          </a:p>
        </p:txBody>
      </p:sp>
      <p:sp>
        <p:nvSpPr>
          <p:cNvPr id="8" name="TextBox 7"/>
          <p:cNvSpPr txBox="1"/>
          <p:nvPr/>
        </p:nvSpPr>
        <p:spPr>
          <a:xfrm>
            <a:off x="6492240" y="3383280"/>
            <a:ext cx="4297680" cy="1828800"/>
          </a:xfrm>
          <a:prstGeom prst="rect">
            <a:avLst/>
          </a:prstGeom>
          <a:noFill/>
        </p:spPr>
        <p:txBody>
          <a:bodyPr wrap="square">
            <a:spAutoFit/>
          </a:bodyPr>
          <a:lstStyle/>
          <a:p>
            <a:pPr>
              <a:defRPr sz="1300">
                <a:solidFill>
                  <a:srgbClr val="FFFFFF"/>
                </a:solidFill>
                <a:latin typeface="Meiryo"/>
              </a:defRPr>
            </a:pPr>
            <a:r>
              <a:t>✔ 請求・保管料自動計算 ＆ 業務報告レポートによる管理業務効率化</a:t>
            </a:r>
            <a:br/>
            <a:r>
              <a:t>✔ 荷主向けWebポータル ＆ 現場ハンディ(HT)連携によるDX推進</a:t>
            </a:r>
            <a:br/>
            <a:r>
              <a:t>✔ 外部API基盤拡張によるシームレスなエコシステム構築</a:t>
            </a:r>
          </a:p>
        </p:txBody>
      </p:sp>
      <p:sp>
        <p:nvSpPr>
          <p:cNvPr id="9" name="TextBox 8"/>
          <p:cNvSpPr txBox="1"/>
          <p:nvPr/>
        </p:nvSpPr>
        <p:spPr>
          <a:xfrm>
            <a:off x="1097280" y="5760720"/>
            <a:ext cx="10058400" cy="457200"/>
          </a:xfrm>
          <a:prstGeom prst="rect">
            <a:avLst/>
          </a:prstGeom>
          <a:noFill/>
        </p:spPr>
        <p:txBody>
          <a:bodyPr wrap="none">
            <a:spAutoFit/>
          </a:bodyPr>
          <a:lstStyle/>
          <a:p>
            <a:pPr algn="ctr">
              <a:defRPr sz="1600" b="1">
                <a:solidFill>
                  <a:srgbClr val="64748B"/>
                </a:solidFill>
                <a:latin typeface="Meiryo"/>
              </a:defRPr>
            </a:pPr>
            <a:r>
              <a:t>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252</TotalTime>
  <Words>954</Words>
  <Application>Microsoft Office PowerPoint</Application>
  <PresentationFormat>ワイド画面</PresentationFormat>
  <Paragraphs>189</Paragraphs>
  <Slides>16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16</vt:i4>
      </vt:variant>
    </vt:vector>
  </HeadingPairs>
  <TitlesOfParts>
    <vt:vector size="20" baseType="lpstr">
      <vt:lpstr>メイリオ</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重明 近藤</cp:lastModifiedBy>
  <cp:revision>2</cp:revision>
  <dcterms:created xsi:type="dcterms:W3CDTF">2013-01-27T09:14:16Z</dcterms:created>
  <dcterms:modified xsi:type="dcterms:W3CDTF">2026-07-28T12:03:00Z</dcterms:modified>
  <cp:category/>
</cp:coreProperties>
</file>